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58" r:id="rId5"/>
    <p:sldId id="260" r:id="rId6"/>
    <p:sldId id="273" r:id="rId7"/>
    <p:sldId id="261" r:id="rId8"/>
    <p:sldId id="262" r:id="rId9"/>
    <p:sldId id="263" r:id="rId10"/>
    <p:sldId id="268" r:id="rId11"/>
    <p:sldId id="270" r:id="rId12"/>
    <p:sldId id="269" r:id="rId13"/>
    <p:sldId id="271" r:id="rId14"/>
    <p:sldId id="265" r:id="rId15"/>
    <p:sldId id="266" r:id="rId16"/>
    <p:sldId id="272" r:id="rId17"/>
    <p:sldId id="267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C3A4B"/>
    <a:srgbClr val="83243D"/>
    <a:srgbClr val="166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18"/>
    <p:restoredTop sz="94684"/>
  </p:normalViewPr>
  <p:slideViewPr>
    <p:cSldViewPr snapToGrid="0">
      <p:cViewPr varScale="1">
        <p:scale>
          <a:sx n="140" d="100"/>
          <a:sy n="140" d="100"/>
        </p:scale>
        <p:origin x="1008" y="496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516C09-503B-BF4F-A21B-4189B7CDC989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59F614-8420-CA4F-ABC7-22E103F2DA1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26592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 - Titre du projet</a:t>
            </a:r>
          </a:p>
          <a:p>
            <a:endParaRPr lang="fr-BE" dirty="0"/>
          </a:p>
          <a:p>
            <a:r>
              <a:rPr lang="fr-BE" dirty="0"/>
              <a:t> - Nom</a:t>
            </a:r>
          </a:p>
          <a:p>
            <a:br>
              <a:rPr lang="fr-BE" dirty="0"/>
            </a:br>
            <a:r>
              <a:rPr lang="fr-BE" dirty="0"/>
              <a:t> - Annonce démonstration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03310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- 2008</a:t>
            </a:r>
          </a:p>
          <a:p>
            <a:br>
              <a:rPr lang="fr-FR" dirty="0"/>
            </a:br>
            <a:r>
              <a:rPr lang="fr-FR" dirty="0"/>
              <a:t>- Services fourni</a:t>
            </a:r>
          </a:p>
          <a:p>
            <a:endParaRPr lang="fr-FR" dirty="0"/>
          </a:p>
          <a:p>
            <a:r>
              <a:rPr lang="fr-FR" dirty="0"/>
              <a:t>- philosophie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092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BE" dirty="0"/>
              <a:t>- supervision énergétique</a:t>
            </a:r>
          </a:p>
          <a:p>
            <a:endParaRPr lang="fr-BE" dirty="0"/>
          </a:p>
          <a:p>
            <a:r>
              <a:rPr lang="fr-BE" dirty="0"/>
              <a:t>- traçabilité d’accès</a:t>
            </a:r>
          </a:p>
          <a:p>
            <a:endParaRPr lang="fr-BE" dirty="0"/>
          </a:p>
          <a:p>
            <a:r>
              <a:rPr lang="fr-BE" dirty="0"/>
              <a:t>- interopérabilité </a:t>
            </a:r>
          </a:p>
          <a:p>
            <a:endParaRPr lang="fr-BE" dirty="0"/>
          </a:p>
          <a:p>
            <a:r>
              <a:rPr lang="fr-BE" dirty="0"/>
              <a:t>- open-source </a:t>
            </a:r>
          </a:p>
          <a:p>
            <a:endParaRPr lang="fr-BE" dirty="0"/>
          </a:p>
          <a:p>
            <a:r>
              <a:rPr lang="fr-BE" dirty="0"/>
              <a:t>- facilement déployable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29921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Expliquer posément chaque élément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1876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9FEF8-60C7-C76C-BECB-803B623AA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0526F40-787E-2235-A3A4-6554E59C66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A70A2D-10E6-AFB9-39E1-7A05EDD90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Expliquer posément les deux prototypes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99D25FB-04A8-9514-3D6A-AE9B758C61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7862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Expliquer la communication en montant sur démonstrateur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0109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-Expliquer rapidement comment est </a:t>
            </a:r>
            <a:r>
              <a:rPr lang="fr-FR" dirty="0" err="1"/>
              <a:t>concue</a:t>
            </a:r>
            <a:r>
              <a:rPr lang="fr-FR" dirty="0"/>
              <a:t> l'app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40039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0896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67504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expliqué la création d'une carte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10894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expliquer la lecture d'une carte et montré le résultat dans le tableau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11609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- Problème modbus</a:t>
            </a:r>
            <a:br>
              <a:rPr lang="fr-FR" dirty="0"/>
            </a:br>
            <a:br>
              <a:rPr lang="fr-FR" dirty="0"/>
            </a:br>
            <a:r>
              <a:rPr lang="fr-FR" dirty="0"/>
              <a:t>- difficulté par manque d'exemple</a:t>
            </a:r>
          </a:p>
          <a:p>
            <a:endParaRPr lang="fr-FR" dirty="0"/>
          </a:p>
          <a:p>
            <a:r>
              <a:rPr lang="fr-FR" dirty="0"/>
              <a:t>- bugs dans l'application</a:t>
            </a:r>
          </a:p>
          <a:p>
            <a:endParaRPr lang="fr-FR" dirty="0"/>
          </a:p>
          <a:p>
            <a:r>
              <a:rPr lang="fr-FR" dirty="0"/>
              <a:t>- </a:t>
            </a:r>
            <a:r>
              <a:rPr lang="fr-FR" dirty="0" err="1"/>
              <a:t>ws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59F614-8420-CA4F-ABC7-22E103F2DA1C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7839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43F570-02DB-454F-7C9C-EA18BA01A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497B7E3-560B-3B74-47B0-615E8C6D9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018D53-FB3D-8899-B7A4-DC3E2E7C3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741C74-6350-0552-BABA-D8DBF3097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CC8FEC-98CF-D792-4842-854E66E8B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6914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BC6A29E-D347-E231-212D-4AF092C68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D470A9-52BA-6483-582F-536F9707C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4033A6-A452-AC71-0404-8145EF91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60FD779-CA1C-FCED-01A6-9FBC67417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2B755F-37BC-D4E0-B25F-178FE7E30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63768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43E44E-E7A0-BFEC-2313-8D06C7D88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466E8D1-28C1-8302-4D6E-DD2851FA3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58299E6-30A1-D046-FF17-8391DAA1F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0D7ABBE-6BE8-1EAC-3F7B-8A0779964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472593B-E684-3F05-4E76-5B2A4E10C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31405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0256105-1314-FE8A-C18E-95888F10B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2C4A77-FBFE-46AA-460F-96849614A4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A1728BB-A98C-4CC5-5E82-4B376D5D0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6D1FD29-8759-F451-DE67-0F9A0F0CF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B5E2AA4-CD98-F94D-535C-2DF598F33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04FA8D-BF85-D4DF-8164-6D93B93B2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395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1DD0529-9230-9200-6EA6-663A27A34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8140BB-7423-A97A-23E3-1A55218CA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25B45C73-04B5-5465-C87E-07AF96CCD4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54DAA88F-A2AF-2FCE-6D4A-36D8C64D5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E493C5F-6C7D-9B50-414C-9FA78B74E2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312230B-83F0-868B-5F5D-8E953E6AE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AA2790D-7AD7-B137-E672-B78431FEB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799477C-67A7-096B-5C06-FAE4CDD72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04914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FB9960-8E14-97B9-0750-9A450E0A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FD82584-A5A3-462A-6B12-98A93D73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5DB1C61-2203-B528-FF6F-6B5065E9B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40750C-7E7E-C1E4-26F9-E7A612BA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8439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C1AEF4F-C445-A524-6BEB-01DA36BD8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B222292-9552-C6D9-3BF8-5F4F62455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AE6A563-D7BB-850D-A6A1-9FC4205D5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46071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B61D8B0-2AFE-A70E-3D77-7F6CB9834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E2FECF-AF6E-AA71-2D9A-769252706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A7640A-0228-EA3E-F057-A068609DD3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3CBB5F2-F0E9-D3DD-8B3F-FF1EC3CEA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849BA6C-9BB9-84E5-19D6-AC23BB0F7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F3DC58B-7B59-0963-7D2B-0CA6C8A22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719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B27AFA9-3A50-9956-8851-307662BCD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D366F2B5-091D-5C5B-FDA8-2B5CB46150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D49B5C2-79DE-3AC9-DD2A-58DEB09834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8A7DF4-38A2-583C-B264-5F00F7B73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270C01D-5676-EB8F-1A08-AEC77031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FEE59E-ED0B-B641-E9B5-D0E0FE3E3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1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2BC152A-0A27-7054-AFCA-E6D732B1D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1010DCB-735C-26EA-898F-1B6FF89CB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70AF185-2F6F-8B99-1532-B6788AED87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265E1E3-BE69-31C0-6ED5-279A07A84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67106E-8D93-763A-51B1-2B865FD76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3758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81434A38-E1F0-C59E-FF4A-32FEBA7E7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09D6458-AF83-2042-C0B5-C9D319CE85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BB43C9-686F-A2BB-8BC0-58BC03AAC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45B08-B07F-A840-82D1-A8C28D40B524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1429257-34B5-9DC0-CC0D-EA2A67C5C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435E6E8-346B-873B-E7B0-C0332298E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095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7BF18DF-7EB8-B16C-A8D1-BFE8FB477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4D0FDB6-0AC8-773E-FB98-5DC3A6641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944FE9C-1F24-2E0A-B9B9-1BC7ACDD25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745B08-B07F-A840-82D1-A8C28D40B524}" type="datetimeFigureOut">
              <a:rPr lang="fr-FR" smtClean="0"/>
              <a:t>17/09/2025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06BC98-BB73-E250-C5FC-8790F1FAE9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559A308-8130-D09B-3C0A-046AEECB5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CC5C04-F4BE-7441-B9D3-40B1BA4D49E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8526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12" Type="http://schemas.openxmlformats.org/officeDocument/2006/relationships/image" Target="../media/image2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svg"/><Relationship Id="rId10" Type="http://schemas.openxmlformats.org/officeDocument/2006/relationships/image" Target="../media/image19.sv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G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intérieur, meubles, Immeuble de bureaux, ordinateur portable&#10;&#10;Le contenu généré par l’IA peut être incorrect.">
            <a:extLst>
              <a:ext uri="{FF2B5EF4-FFF2-40B4-BE49-F238E27FC236}">
                <a16:creationId xmlns:a16="http://schemas.microsoft.com/office/drawing/2014/main" id="{A95C4CB9-F3D3-C395-0D20-B684FBAC7F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041"/>
          <a:stretch>
            <a:fillRect/>
          </a:stretch>
        </p:blipFill>
        <p:spPr>
          <a:xfrm>
            <a:off x="0" y="-7885"/>
            <a:ext cx="7553325" cy="6865885"/>
          </a:xfrm>
          <a:prstGeom prst="rect">
            <a:avLst/>
          </a:prstGeom>
          <a:effectLst>
            <a:softEdge rad="262727"/>
          </a:effectLst>
        </p:spPr>
      </p:pic>
      <p:sp>
        <p:nvSpPr>
          <p:cNvPr id="6" name="Rectangle 8">
            <a:extLst>
              <a:ext uri="{FF2B5EF4-FFF2-40B4-BE49-F238E27FC236}">
                <a16:creationId xmlns:a16="http://schemas.microsoft.com/office/drawing/2014/main" id="{03CAB9A5-D205-721A-2005-AE1B18F19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fr-FR"/>
          </a:p>
        </p:txBody>
      </p:sp>
      <p:sp>
        <p:nvSpPr>
          <p:cNvPr id="10" name="Zone de texte 6">
            <a:extLst>
              <a:ext uri="{FF2B5EF4-FFF2-40B4-BE49-F238E27FC236}">
                <a16:creationId xmlns:a16="http://schemas.microsoft.com/office/drawing/2014/main" id="{F09D1B96-F115-9895-54AD-BEC6AB450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158950" y="330965175"/>
            <a:ext cx="394858875" cy="36343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32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</a:t>
            </a:r>
            <a:endParaRPr kumimoji="0" lang="fr-FR" altLang="fr-FR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Zone de texte 8">
            <a:extLst>
              <a:ext uri="{FF2B5EF4-FFF2-40B4-BE49-F238E27FC236}">
                <a16:creationId xmlns:a16="http://schemas.microsoft.com/office/drawing/2014/main" id="{186C08D9-AD1E-D0D2-48B5-836A48A4C2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55800" y="701449575"/>
            <a:ext cx="371903625" cy="7798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137160" rIns="91440" bIns="13716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rgbClr val="E8E8E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    </a:t>
            </a:r>
            <a:endParaRPr kumimoji="0" lang="fr-FR" altLang="fr-FR" sz="1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6E7CAA81-6DEA-1CBB-8F1F-68D894122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24863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2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 : avec coins arrondis en haut 12">
            <a:extLst>
              <a:ext uri="{FF2B5EF4-FFF2-40B4-BE49-F238E27FC236}">
                <a16:creationId xmlns:a16="http://schemas.microsoft.com/office/drawing/2014/main" id="{FFA38825-E307-9FFC-F0E2-ACA2D06C015E}"/>
              </a:ext>
            </a:extLst>
          </p:cNvPr>
          <p:cNvSpPr/>
          <p:nvPr/>
        </p:nvSpPr>
        <p:spPr>
          <a:xfrm rot="16200000">
            <a:off x="5426138" y="92134"/>
            <a:ext cx="6865881" cy="6665845"/>
          </a:xfrm>
          <a:prstGeom prst="round2SameRect">
            <a:avLst/>
          </a:prstGeom>
          <a:solidFill>
            <a:srgbClr val="2C3A4B"/>
          </a:solidFill>
          <a:ln w="762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1D88858F-7DB3-A211-1F67-20EA108E3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904" y="1069291"/>
            <a:ext cx="4928910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32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Système domotisé ouvert et déployable pour les espaces de travail au sein de petites et moyennes entreprises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 : avec coins arrondis en haut 16">
            <a:extLst>
              <a:ext uri="{FF2B5EF4-FFF2-40B4-BE49-F238E27FC236}">
                <a16:creationId xmlns:a16="http://schemas.microsoft.com/office/drawing/2014/main" id="{75177E7E-A0C4-F6D5-08AF-F1982E235CDD}"/>
              </a:ext>
            </a:extLst>
          </p:cNvPr>
          <p:cNvSpPr/>
          <p:nvPr/>
        </p:nvSpPr>
        <p:spPr>
          <a:xfrm rot="16200000">
            <a:off x="6231084" y="361873"/>
            <a:ext cx="5911728" cy="6181893"/>
          </a:xfrm>
          <a:prstGeom prst="round2SameRect">
            <a:avLst/>
          </a:prstGeom>
          <a:noFill/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622CD85E-BE53-1A54-162B-F8143E4F5D27}"/>
              </a:ext>
            </a:extLst>
          </p:cNvPr>
          <p:cNvCxnSpPr>
            <a:cxnSpLocks/>
          </p:cNvCxnSpPr>
          <p:nvPr/>
        </p:nvCxnSpPr>
        <p:spPr>
          <a:xfrm>
            <a:off x="7036904" y="3952713"/>
            <a:ext cx="4706936" cy="0"/>
          </a:xfrm>
          <a:prstGeom prst="line">
            <a:avLst/>
          </a:prstGeom>
          <a:ln w="762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4">
            <a:extLst>
              <a:ext uri="{FF2B5EF4-FFF2-40B4-BE49-F238E27FC236}">
                <a16:creationId xmlns:a16="http://schemas.microsoft.com/office/drawing/2014/main" id="{4CA5213D-7C3D-FBD9-3845-D630ADFFE9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904" y="4207682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Zone de texte 5">
            <a:extLst>
              <a:ext uri="{FF2B5EF4-FFF2-40B4-BE49-F238E27FC236}">
                <a16:creationId xmlns:a16="http://schemas.microsoft.com/office/drawing/2014/main" id="{6317C80F-3BE3-55E2-0393-7583E05A3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0777" y="4627622"/>
            <a:ext cx="3908425" cy="669925"/>
          </a:xfrm>
          <a:prstGeom prst="rect">
            <a:avLst/>
          </a:prstGeom>
          <a:solidFill>
            <a:srgbClr val="2C3A4B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Bachelier en Automatisation </a:t>
            </a: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E8E8E8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2020-2025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3" name="Image 22" descr="Iram enseignement pour adultes">
            <a:extLst>
              <a:ext uri="{FF2B5EF4-FFF2-40B4-BE49-F238E27FC236}">
                <a16:creationId xmlns:a16="http://schemas.microsoft.com/office/drawing/2014/main" id="{1E1EBB98-BB45-D534-829B-776A55FE00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3812" y="5528908"/>
            <a:ext cx="1161827" cy="76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641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Une image contenant capture d’écran, texte, Police, symbole&#10;&#10;Le contenu généré par l’IA peut être incorrect.">
            <a:extLst>
              <a:ext uri="{FF2B5EF4-FFF2-40B4-BE49-F238E27FC236}">
                <a16:creationId xmlns:a16="http://schemas.microsoft.com/office/drawing/2014/main" id="{E83403DA-1F2C-8EE2-1A97-1E521AD7A4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2162"/>
          <a:stretch>
            <a:fillRect/>
          </a:stretch>
        </p:blipFill>
        <p:spPr>
          <a:xfrm>
            <a:off x="952500" y="0"/>
            <a:ext cx="5949745" cy="6858000"/>
          </a:xfrm>
          <a:prstGeom prst="rect">
            <a:avLst/>
          </a:prstGeom>
        </p:spPr>
      </p:pic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6CE36E17-AAEC-53D4-A917-01460869AC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74711" y="5924952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F23216A6-D99D-E65A-8B1A-15CD3E705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5383489-66B0-69F9-8F70-133D0AA714F3}"/>
              </a:ext>
            </a:extLst>
          </p:cNvPr>
          <p:cNvSpPr txBox="1"/>
          <p:nvPr/>
        </p:nvSpPr>
        <p:spPr>
          <a:xfrm>
            <a:off x="6902245" y="1436783"/>
            <a:ext cx="528975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800" dirty="0">
                <a:solidFill>
                  <a:srgbClr val="2C3A4B"/>
                </a:solidFill>
              </a:rPr>
              <a:t>Transformation numérique</a:t>
            </a:r>
            <a:endParaRPr lang="fr-BE" sz="2800" dirty="0">
              <a:solidFill>
                <a:schemeClr val="bg1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107E9EB-CD1C-E064-F606-22BE88997C99}"/>
              </a:ext>
            </a:extLst>
          </p:cNvPr>
          <p:cNvSpPr txBox="1"/>
          <p:nvPr/>
        </p:nvSpPr>
        <p:spPr>
          <a:xfrm>
            <a:off x="6701607" y="4982001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dirty="0">
                <a:solidFill>
                  <a:srgbClr val="2C3A4B"/>
                </a:solidFill>
              </a:rPr>
              <a:t>  </a:t>
            </a:r>
            <a:r>
              <a:rPr lang="fr-BE" sz="2800" dirty="0">
                <a:solidFill>
                  <a:srgbClr val="2C3A4B"/>
                </a:solidFill>
              </a:rPr>
              <a:t>Ecologie et énergie</a:t>
            </a:r>
            <a:endParaRPr lang="fr-BE" sz="2800" dirty="0">
              <a:solidFill>
                <a:schemeClr val="bg1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1E46726-CA79-3FB6-D85E-CD1AC0DB702D}"/>
              </a:ext>
            </a:extLst>
          </p:cNvPr>
          <p:cNvSpPr txBox="1"/>
          <p:nvPr/>
        </p:nvSpPr>
        <p:spPr>
          <a:xfrm>
            <a:off x="6902245" y="3718709"/>
            <a:ext cx="430304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800" dirty="0">
                <a:solidFill>
                  <a:srgbClr val="2C3A4B"/>
                </a:solidFill>
              </a:rPr>
              <a:t>Conseil &amp; accompagnement digital</a:t>
            </a:r>
            <a:endParaRPr lang="fr-BE" sz="2800" dirty="0">
              <a:solidFill>
                <a:schemeClr val="bg1"/>
              </a:solidFill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2BCBECD-6CC5-F667-4A57-55DDE1DD5B5B}"/>
              </a:ext>
            </a:extLst>
          </p:cNvPr>
          <p:cNvSpPr txBox="1"/>
          <p:nvPr/>
        </p:nvSpPr>
        <p:spPr>
          <a:xfrm>
            <a:off x="6902245" y="2474893"/>
            <a:ext cx="366961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2800" dirty="0">
                <a:solidFill>
                  <a:srgbClr val="2C3A4B"/>
                </a:solidFill>
              </a:rPr>
              <a:t>Développement web et application</a:t>
            </a:r>
            <a:endParaRPr lang="fr-BE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92112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10406-F83C-2B8C-EBAF-7D5F865A2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avec coins arrondis en diagonale 7">
            <a:extLst>
              <a:ext uri="{FF2B5EF4-FFF2-40B4-BE49-F238E27FC236}">
                <a16:creationId xmlns:a16="http://schemas.microsoft.com/office/drawing/2014/main" id="{77B410E2-7257-8BD5-AFBF-7DAC5F758B2C}"/>
              </a:ext>
            </a:extLst>
          </p:cNvPr>
          <p:cNvSpPr/>
          <p:nvPr/>
        </p:nvSpPr>
        <p:spPr>
          <a:xfrm>
            <a:off x="0" y="0"/>
            <a:ext cx="6372665" cy="6858000"/>
          </a:xfrm>
          <a:prstGeom prst="round2Diag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Rectangle : avec coins arrondis en diagonale 8">
            <a:extLst>
              <a:ext uri="{FF2B5EF4-FFF2-40B4-BE49-F238E27FC236}">
                <a16:creationId xmlns:a16="http://schemas.microsoft.com/office/drawing/2014/main" id="{6A34AAB3-0049-C5CD-666F-2075474C63A1}"/>
              </a:ext>
            </a:extLst>
          </p:cNvPr>
          <p:cNvSpPr/>
          <p:nvPr/>
        </p:nvSpPr>
        <p:spPr>
          <a:xfrm>
            <a:off x="534571" y="584776"/>
            <a:ext cx="5331657" cy="5688440"/>
          </a:xfrm>
          <a:prstGeom prst="round2DiagRect">
            <a:avLst/>
          </a:prstGeom>
          <a:solidFill>
            <a:srgbClr val="2C3A4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9D7FD1EC-FDD8-36B5-7EFF-99ADA8E9A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2944" y="5923110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4AB8F8E5-86AB-3068-6D79-70622FCE9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5E238D1-CB83-8B27-6707-86913F3FCCC9}"/>
              </a:ext>
            </a:extLst>
          </p:cNvPr>
          <p:cNvSpPr txBox="1"/>
          <p:nvPr/>
        </p:nvSpPr>
        <p:spPr>
          <a:xfrm>
            <a:off x="6372665" y="0"/>
            <a:ext cx="5798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dirty="0">
                <a:solidFill>
                  <a:srgbClr val="2C3A4B"/>
                </a:solidFill>
              </a:rPr>
              <a:t>   Contexte du projet</a:t>
            </a:r>
            <a:endParaRPr lang="fr-BE" sz="3200" b="1" dirty="0">
              <a:solidFill>
                <a:srgbClr val="2C3A4B"/>
              </a:solidFill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5D554BE2-9E93-2A20-E467-426655DD4F2C}"/>
              </a:ext>
            </a:extLst>
          </p:cNvPr>
          <p:cNvSpPr txBox="1"/>
          <p:nvPr/>
        </p:nvSpPr>
        <p:spPr>
          <a:xfrm>
            <a:off x="586151" y="2430865"/>
            <a:ext cx="528007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Solutions propriétaires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Écosystème fermé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Développements spécifiques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Mise en place coûteuse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Garantie limitée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Interface complexe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Mises à jour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…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A54B85-E931-3CE8-53D2-E39C493F5671}"/>
              </a:ext>
            </a:extLst>
          </p:cNvPr>
          <p:cNvSpPr txBox="1"/>
          <p:nvPr/>
        </p:nvSpPr>
        <p:spPr>
          <a:xfrm>
            <a:off x="6372665" y="2430865"/>
            <a:ext cx="581464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Solution flexible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Compatibilité ouverte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DIY possible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Microcontrôleurs bon marché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Modularité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Interface simple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Déploiement rapide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rgbClr val="2C3A4B"/>
                </a:solidFill>
              </a:rPr>
              <a:t>…</a:t>
            </a:r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254C648F-0DC6-9638-1D0D-E2AE605AEFF6}"/>
              </a:ext>
            </a:extLst>
          </p:cNvPr>
          <p:cNvCxnSpPr>
            <a:cxnSpLocks/>
          </p:cNvCxnSpPr>
          <p:nvPr/>
        </p:nvCxnSpPr>
        <p:spPr>
          <a:xfrm>
            <a:off x="5950634" y="570708"/>
            <a:ext cx="550984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ZoneTexte 12">
            <a:extLst>
              <a:ext uri="{FF2B5EF4-FFF2-40B4-BE49-F238E27FC236}">
                <a16:creationId xmlns:a16="http://schemas.microsoft.com/office/drawing/2014/main" id="{0E1DCFE6-06D6-A60D-0FEF-6EB497E0FF7F}"/>
              </a:ext>
            </a:extLst>
          </p:cNvPr>
          <p:cNvSpPr txBox="1"/>
          <p:nvPr/>
        </p:nvSpPr>
        <p:spPr>
          <a:xfrm>
            <a:off x="534571" y="1218953"/>
            <a:ext cx="53316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2800" b="1" dirty="0">
                <a:solidFill>
                  <a:schemeClr val="bg1"/>
                </a:solidFill>
              </a:rPr>
              <a:t>Problématiques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6BF29C8-2E55-35DC-6B3E-C4DC62462F3D}"/>
              </a:ext>
            </a:extLst>
          </p:cNvPr>
          <p:cNvSpPr txBox="1"/>
          <p:nvPr/>
        </p:nvSpPr>
        <p:spPr>
          <a:xfrm>
            <a:off x="6400799" y="1218953"/>
            <a:ext cx="57912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BE" sz="2800" b="1" dirty="0">
                <a:solidFill>
                  <a:srgbClr val="2C3A4B"/>
                </a:solidFill>
              </a:rPr>
              <a:t>Solutions</a:t>
            </a:r>
            <a:endParaRPr lang="fr-BE" sz="2800" dirty="0">
              <a:solidFill>
                <a:srgbClr val="2C3A4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2666277"/>
      </p:ext>
    </p:extLst>
  </p:cSld>
  <p:clrMapOvr>
    <a:masterClrMapping/>
  </p:clrMapOvr>
  <p:transition spd="slow"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F4D09-1846-8FA4-7611-802D073F0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9E132C7C-EED1-B1F4-5275-D9E8A2F1AAF9}"/>
              </a:ext>
            </a:extLst>
          </p:cNvPr>
          <p:cNvSpPr/>
          <p:nvPr/>
        </p:nvSpPr>
        <p:spPr>
          <a:xfrm rot="16200000">
            <a:off x="5714999" y="380997"/>
            <a:ext cx="6858003" cy="6096000"/>
          </a:xfrm>
          <a:prstGeom prst="round2Diag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Rectangle : avec coins arrondis en diagonale 12">
            <a:extLst>
              <a:ext uri="{FF2B5EF4-FFF2-40B4-BE49-F238E27FC236}">
                <a16:creationId xmlns:a16="http://schemas.microsoft.com/office/drawing/2014/main" id="{8E0C5183-2AC5-9DA6-B2D1-0867C2746383}"/>
              </a:ext>
            </a:extLst>
          </p:cNvPr>
          <p:cNvSpPr/>
          <p:nvPr/>
        </p:nvSpPr>
        <p:spPr>
          <a:xfrm rot="16200000">
            <a:off x="6314259" y="1010956"/>
            <a:ext cx="5535639" cy="4836083"/>
          </a:xfrm>
          <a:prstGeom prst="round2DiagRect">
            <a:avLst/>
          </a:prstGeom>
          <a:solidFill>
            <a:srgbClr val="2C3A4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DEF2B212-D60C-39A8-963A-917DC4EC54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83977" y="5303281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873B3CC9-EAA0-0726-E729-7634F9D7F4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Image 7" descr="domotique">
            <a:extLst>
              <a:ext uri="{FF2B5EF4-FFF2-40B4-BE49-F238E27FC236}">
                <a16:creationId xmlns:a16="http://schemas.microsoft.com/office/drawing/2014/main" id="{6E8357B3-4E4C-67C7-1215-680D73F5F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7625" y="529590"/>
            <a:ext cx="9326598" cy="6217732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6A666E41-1B7D-936C-D37C-B8F082EF9F2C}"/>
              </a:ext>
            </a:extLst>
          </p:cNvPr>
          <p:cNvSpPr txBox="1"/>
          <p:nvPr/>
        </p:nvSpPr>
        <p:spPr>
          <a:xfrm>
            <a:off x="-59190" y="36936"/>
            <a:ext cx="121403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Présentation: le projet « </a:t>
            </a:r>
            <a:r>
              <a:rPr lang="fr-BE" sz="3200" b="1" dirty="0" err="1">
                <a:solidFill>
                  <a:srgbClr val="2C3A4B"/>
                </a:solidFill>
              </a:rPr>
              <a:t>Domoty</a:t>
            </a:r>
            <a:r>
              <a:rPr lang="fr-BE" sz="3200" b="1" dirty="0" err="1">
                <a:solidFill>
                  <a:schemeClr val="bg1"/>
                </a:solidFill>
              </a:rPr>
              <a:t>k</a:t>
            </a:r>
            <a:r>
              <a:rPr lang="fr-BE" sz="3200" b="1" dirty="0">
                <a:solidFill>
                  <a:schemeClr val="bg1"/>
                </a:solidFill>
              </a:rPr>
              <a:t> »</a:t>
            </a:r>
            <a:endParaRPr lang="fr-BE" sz="3200" dirty="0">
              <a:solidFill>
                <a:schemeClr val="bg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4C9D0FC-CE5A-3448-C72F-48C7B60FAEEA}"/>
              </a:ext>
            </a:extLst>
          </p:cNvPr>
          <p:cNvSpPr txBox="1"/>
          <p:nvPr/>
        </p:nvSpPr>
        <p:spPr>
          <a:xfrm>
            <a:off x="6905752" y="1160302"/>
            <a:ext cx="4836082" cy="1701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Supervision énergétique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Contrôle d’accès RFID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400" dirty="0">
                <a:solidFill>
                  <a:schemeClr val="bg1"/>
                </a:solidFill>
              </a:rPr>
              <a:t>Interface web ouverte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EA8AD2D0-9084-2B36-4F38-DC5A47AF8849}"/>
              </a:ext>
            </a:extLst>
          </p:cNvPr>
          <p:cNvCxnSpPr>
            <a:cxnSpLocks/>
          </p:cNvCxnSpPr>
          <p:nvPr/>
        </p:nvCxnSpPr>
        <p:spPr>
          <a:xfrm>
            <a:off x="592332" y="661182"/>
            <a:ext cx="582231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7093653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76F6-FB16-DB46-9602-B8C97E1D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25CAC71A-E1E3-8A15-F6F0-654D1BF9B973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611944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 : avec coins arrondis en diagonale 11">
            <a:extLst>
              <a:ext uri="{FF2B5EF4-FFF2-40B4-BE49-F238E27FC236}">
                <a16:creationId xmlns:a16="http://schemas.microsoft.com/office/drawing/2014/main" id="{624EE5E9-334A-EC44-D369-B612DE3A235E}"/>
              </a:ext>
            </a:extLst>
          </p:cNvPr>
          <p:cNvSpPr/>
          <p:nvPr/>
        </p:nvSpPr>
        <p:spPr>
          <a:xfrm rot="6770623">
            <a:off x="1782536" y="-306288"/>
            <a:ext cx="9454041" cy="7358676"/>
          </a:xfrm>
          <a:custGeom>
            <a:avLst/>
            <a:gdLst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0 w 8095953"/>
              <a:gd name="connsiteY5" fmla="*/ 6858000 h 6858000"/>
              <a:gd name="connsiteX6" fmla="*/ 0 w 8095953"/>
              <a:gd name="connsiteY6" fmla="*/ 6858000 h 6858000"/>
              <a:gd name="connsiteX7" fmla="*/ 0 w 8095953"/>
              <a:gd name="connsiteY7" fmla="*/ 1143023 h 6858000"/>
              <a:gd name="connsiteX8" fmla="*/ 1143023 w 8095953"/>
              <a:gd name="connsiteY8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0 w 8095953"/>
              <a:gd name="connsiteY5" fmla="*/ 6858000 h 6858000"/>
              <a:gd name="connsiteX6" fmla="*/ 2355644 w 8095953"/>
              <a:gd name="connsiteY6" fmla="*/ 6839845 h 6858000"/>
              <a:gd name="connsiteX7" fmla="*/ 0 w 8095953"/>
              <a:gd name="connsiteY7" fmla="*/ 1143023 h 6858000"/>
              <a:gd name="connsiteX8" fmla="*/ 1143023 w 8095953"/>
              <a:gd name="connsiteY8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386288 w 8095953"/>
              <a:gd name="connsiteY5" fmla="*/ 6826936 h 6858000"/>
              <a:gd name="connsiteX6" fmla="*/ 2355644 w 8095953"/>
              <a:gd name="connsiteY6" fmla="*/ 6839845 h 6858000"/>
              <a:gd name="connsiteX7" fmla="*/ 0 w 8095953"/>
              <a:gd name="connsiteY7" fmla="*/ 1143023 h 6858000"/>
              <a:gd name="connsiteX8" fmla="*/ 1143023 w 8095953"/>
              <a:gd name="connsiteY8" fmla="*/ 0 h 6858000"/>
              <a:gd name="connsiteX0" fmla="*/ 1143023 w 8095953"/>
              <a:gd name="connsiteY0" fmla="*/ 0 h 9204359"/>
              <a:gd name="connsiteX1" fmla="*/ 8095953 w 8095953"/>
              <a:gd name="connsiteY1" fmla="*/ 0 h 9204359"/>
              <a:gd name="connsiteX2" fmla="*/ 8095953 w 8095953"/>
              <a:gd name="connsiteY2" fmla="*/ 0 h 9204359"/>
              <a:gd name="connsiteX3" fmla="*/ 8095953 w 8095953"/>
              <a:gd name="connsiteY3" fmla="*/ 5714977 h 9204359"/>
              <a:gd name="connsiteX4" fmla="*/ 6952930 w 8095953"/>
              <a:gd name="connsiteY4" fmla="*/ 6858000 h 9204359"/>
              <a:gd name="connsiteX5" fmla="*/ 2386288 w 8095953"/>
              <a:gd name="connsiteY5" fmla="*/ 6826936 h 9204359"/>
              <a:gd name="connsiteX6" fmla="*/ 2395575 w 8095953"/>
              <a:gd name="connsiteY6" fmla="*/ 9204359 h 9204359"/>
              <a:gd name="connsiteX7" fmla="*/ 0 w 8095953"/>
              <a:gd name="connsiteY7" fmla="*/ 1143023 h 9204359"/>
              <a:gd name="connsiteX8" fmla="*/ 1143023 w 8095953"/>
              <a:gd name="connsiteY8" fmla="*/ 0 h 9204359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386288 w 8095953"/>
              <a:gd name="connsiteY5" fmla="*/ 6826936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386288 w 8095953"/>
              <a:gd name="connsiteY5" fmla="*/ 6826936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166275 w 8095953"/>
              <a:gd name="connsiteY5" fmla="*/ 6812482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1962545 w 8095953"/>
              <a:gd name="connsiteY5" fmla="*/ 6804471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95953" h="6858000">
                <a:moveTo>
                  <a:pt x="1143023" y="0"/>
                </a:moveTo>
                <a:lnTo>
                  <a:pt x="8095953" y="0"/>
                </a:lnTo>
                <a:lnTo>
                  <a:pt x="8095953" y="0"/>
                </a:lnTo>
                <a:lnTo>
                  <a:pt x="8095953" y="5714977"/>
                </a:lnTo>
                <a:cubicBezTo>
                  <a:pt x="8095953" y="6346251"/>
                  <a:pt x="7584204" y="6858000"/>
                  <a:pt x="6952930" y="6858000"/>
                </a:cubicBezTo>
                <a:lnTo>
                  <a:pt x="1962545" y="6804471"/>
                </a:lnTo>
                <a:cubicBezTo>
                  <a:pt x="-439848" y="1144121"/>
                  <a:pt x="207211" y="2280846"/>
                  <a:pt x="0" y="1143023"/>
                </a:cubicBezTo>
                <a:cubicBezTo>
                  <a:pt x="0" y="511749"/>
                  <a:pt x="511749" y="0"/>
                  <a:pt x="1143023" y="0"/>
                </a:cubicBezTo>
                <a:close/>
              </a:path>
            </a:pathLst>
          </a:cu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 : avec coins arrondis en diagonale 11">
            <a:extLst>
              <a:ext uri="{FF2B5EF4-FFF2-40B4-BE49-F238E27FC236}">
                <a16:creationId xmlns:a16="http://schemas.microsoft.com/office/drawing/2014/main" id="{434B1668-0FAC-0A83-088E-41565A71FA14}"/>
              </a:ext>
            </a:extLst>
          </p:cNvPr>
          <p:cNvSpPr/>
          <p:nvPr/>
        </p:nvSpPr>
        <p:spPr>
          <a:xfrm rot="6770623">
            <a:off x="2187133" y="15490"/>
            <a:ext cx="9365031" cy="6046794"/>
          </a:xfrm>
          <a:custGeom>
            <a:avLst/>
            <a:gdLst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0 w 8095953"/>
              <a:gd name="connsiteY5" fmla="*/ 6858000 h 6858000"/>
              <a:gd name="connsiteX6" fmla="*/ 0 w 8095953"/>
              <a:gd name="connsiteY6" fmla="*/ 6858000 h 6858000"/>
              <a:gd name="connsiteX7" fmla="*/ 0 w 8095953"/>
              <a:gd name="connsiteY7" fmla="*/ 1143023 h 6858000"/>
              <a:gd name="connsiteX8" fmla="*/ 1143023 w 8095953"/>
              <a:gd name="connsiteY8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0 w 8095953"/>
              <a:gd name="connsiteY5" fmla="*/ 6858000 h 6858000"/>
              <a:gd name="connsiteX6" fmla="*/ 2355644 w 8095953"/>
              <a:gd name="connsiteY6" fmla="*/ 6839845 h 6858000"/>
              <a:gd name="connsiteX7" fmla="*/ 0 w 8095953"/>
              <a:gd name="connsiteY7" fmla="*/ 1143023 h 6858000"/>
              <a:gd name="connsiteX8" fmla="*/ 1143023 w 8095953"/>
              <a:gd name="connsiteY8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386288 w 8095953"/>
              <a:gd name="connsiteY5" fmla="*/ 6826936 h 6858000"/>
              <a:gd name="connsiteX6" fmla="*/ 2355644 w 8095953"/>
              <a:gd name="connsiteY6" fmla="*/ 6839845 h 6858000"/>
              <a:gd name="connsiteX7" fmla="*/ 0 w 8095953"/>
              <a:gd name="connsiteY7" fmla="*/ 1143023 h 6858000"/>
              <a:gd name="connsiteX8" fmla="*/ 1143023 w 8095953"/>
              <a:gd name="connsiteY8" fmla="*/ 0 h 6858000"/>
              <a:gd name="connsiteX0" fmla="*/ 1143023 w 8095953"/>
              <a:gd name="connsiteY0" fmla="*/ 0 h 9204359"/>
              <a:gd name="connsiteX1" fmla="*/ 8095953 w 8095953"/>
              <a:gd name="connsiteY1" fmla="*/ 0 h 9204359"/>
              <a:gd name="connsiteX2" fmla="*/ 8095953 w 8095953"/>
              <a:gd name="connsiteY2" fmla="*/ 0 h 9204359"/>
              <a:gd name="connsiteX3" fmla="*/ 8095953 w 8095953"/>
              <a:gd name="connsiteY3" fmla="*/ 5714977 h 9204359"/>
              <a:gd name="connsiteX4" fmla="*/ 6952930 w 8095953"/>
              <a:gd name="connsiteY4" fmla="*/ 6858000 h 9204359"/>
              <a:gd name="connsiteX5" fmla="*/ 2386288 w 8095953"/>
              <a:gd name="connsiteY5" fmla="*/ 6826936 h 9204359"/>
              <a:gd name="connsiteX6" fmla="*/ 2395575 w 8095953"/>
              <a:gd name="connsiteY6" fmla="*/ 9204359 h 9204359"/>
              <a:gd name="connsiteX7" fmla="*/ 0 w 8095953"/>
              <a:gd name="connsiteY7" fmla="*/ 1143023 h 9204359"/>
              <a:gd name="connsiteX8" fmla="*/ 1143023 w 8095953"/>
              <a:gd name="connsiteY8" fmla="*/ 0 h 9204359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386288 w 8095953"/>
              <a:gd name="connsiteY5" fmla="*/ 6826936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386288 w 8095953"/>
              <a:gd name="connsiteY5" fmla="*/ 6826936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2166275 w 8095953"/>
              <a:gd name="connsiteY5" fmla="*/ 6812482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  <a:gd name="connsiteX0" fmla="*/ 1143023 w 8095953"/>
              <a:gd name="connsiteY0" fmla="*/ 0 h 6858000"/>
              <a:gd name="connsiteX1" fmla="*/ 8095953 w 8095953"/>
              <a:gd name="connsiteY1" fmla="*/ 0 h 6858000"/>
              <a:gd name="connsiteX2" fmla="*/ 8095953 w 8095953"/>
              <a:gd name="connsiteY2" fmla="*/ 0 h 6858000"/>
              <a:gd name="connsiteX3" fmla="*/ 8095953 w 8095953"/>
              <a:gd name="connsiteY3" fmla="*/ 5714977 h 6858000"/>
              <a:gd name="connsiteX4" fmla="*/ 6952930 w 8095953"/>
              <a:gd name="connsiteY4" fmla="*/ 6858000 h 6858000"/>
              <a:gd name="connsiteX5" fmla="*/ 1962545 w 8095953"/>
              <a:gd name="connsiteY5" fmla="*/ 6804471 h 6858000"/>
              <a:gd name="connsiteX6" fmla="*/ 0 w 8095953"/>
              <a:gd name="connsiteY6" fmla="*/ 1143023 h 6858000"/>
              <a:gd name="connsiteX7" fmla="*/ 1143023 w 8095953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095953" h="6858000">
                <a:moveTo>
                  <a:pt x="1143023" y="0"/>
                </a:moveTo>
                <a:lnTo>
                  <a:pt x="8095953" y="0"/>
                </a:lnTo>
                <a:lnTo>
                  <a:pt x="8095953" y="0"/>
                </a:lnTo>
                <a:lnTo>
                  <a:pt x="8095953" y="5714977"/>
                </a:lnTo>
                <a:cubicBezTo>
                  <a:pt x="8095953" y="6346251"/>
                  <a:pt x="7584204" y="6858000"/>
                  <a:pt x="6952930" y="6858000"/>
                </a:cubicBezTo>
                <a:lnTo>
                  <a:pt x="1962545" y="6804471"/>
                </a:lnTo>
                <a:cubicBezTo>
                  <a:pt x="-439848" y="1144121"/>
                  <a:pt x="207211" y="2280846"/>
                  <a:pt x="0" y="1143023"/>
                </a:cubicBezTo>
                <a:cubicBezTo>
                  <a:pt x="0" y="511749"/>
                  <a:pt x="511749" y="0"/>
                  <a:pt x="1143023" y="0"/>
                </a:cubicBezTo>
                <a:close/>
              </a:path>
            </a:pathLst>
          </a:cu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6C38258C-AA0B-8191-DBA5-A2C2E189C5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6214" y="5932229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C9282B74-5A15-07AB-8F84-C408512711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DE0A11D-71F5-4AEF-7081-122B284F6F64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Architecture Matéri</a:t>
            </a:r>
            <a:r>
              <a:rPr lang="fr-BE" sz="3200" b="1" dirty="0">
                <a:solidFill>
                  <a:schemeClr val="bg1"/>
                </a:solidFill>
              </a:rPr>
              <a:t>elle</a:t>
            </a:r>
            <a:endParaRPr lang="fr-BE" sz="3200" dirty="0">
              <a:solidFill>
                <a:schemeClr val="bg1"/>
              </a:solidFill>
            </a:endParaRPr>
          </a:p>
        </p:txBody>
      </p:sp>
      <p:pic>
        <p:nvPicPr>
          <p:cNvPr id="5" name="Image 4" descr="Une image contenant Appareils électroniques, machine, fils électriques, Ingénierie électronique&#10;&#10;Le contenu généré par l’IA peut être incorrect.">
            <a:extLst>
              <a:ext uri="{FF2B5EF4-FFF2-40B4-BE49-F238E27FC236}">
                <a16:creationId xmlns:a16="http://schemas.microsoft.com/office/drawing/2014/main" id="{119870FD-0411-2353-20B0-28812D23045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7" t="21401" r="20086" b="19668"/>
          <a:stretch>
            <a:fillRect/>
          </a:stretch>
        </p:blipFill>
        <p:spPr bwMode="auto">
          <a:xfrm>
            <a:off x="264877" y="1030980"/>
            <a:ext cx="11542694" cy="4620554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BA3AE481-FE70-1A67-358F-80748FEA9864}"/>
              </a:ext>
            </a:extLst>
          </p:cNvPr>
          <p:cNvSpPr txBox="1"/>
          <p:nvPr/>
        </p:nvSpPr>
        <p:spPr>
          <a:xfrm>
            <a:off x="4256112" y="40527"/>
            <a:ext cx="734845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3200" b="1" dirty="0">
                <a:solidFill>
                  <a:schemeClr val="bg1"/>
                </a:solidFill>
              </a:rPr>
              <a:t>Présentation du démonstrateur</a:t>
            </a:r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0686371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/>
      </p:transition>
    </mc:Choice>
    <mc:Fallback xmlns="">
      <p:transition spd="slow">
        <p:spli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98DC1-311B-EB47-E01D-3D736039C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rallélogramme 8">
            <a:extLst>
              <a:ext uri="{FF2B5EF4-FFF2-40B4-BE49-F238E27FC236}">
                <a16:creationId xmlns:a16="http://schemas.microsoft.com/office/drawing/2014/main" id="{E16C11D2-49AD-7145-42B6-E7DD9879B935}"/>
              </a:ext>
            </a:extLst>
          </p:cNvPr>
          <p:cNvSpPr/>
          <p:nvPr/>
        </p:nvSpPr>
        <p:spPr>
          <a:xfrm>
            <a:off x="3474720" y="0"/>
            <a:ext cx="9668961" cy="6858000"/>
          </a:xfrm>
          <a:prstGeom prst="parallelogram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878BDA13-D764-FCCF-4DA3-D201AA7F94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76214" y="5932229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C716CD37-03DC-E74C-C361-5A8221EE6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5BE20EDB-5486-68C3-32B6-F821A835C850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Architecture Matérielle</a:t>
            </a:r>
            <a:endParaRPr lang="fr-BE" sz="3200" dirty="0">
              <a:solidFill>
                <a:srgbClr val="2C3A4B"/>
              </a:solidFill>
            </a:endParaRPr>
          </a:p>
        </p:txBody>
      </p:sp>
      <p:pic>
        <p:nvPicPr>
          <p:cNvPr id="6" name="Image 5" descr="Une image contenant Appareils électroniques, Ingénierie électronique, Composant de circuit, Composant électronique&#10;&#10;Le contenu généré par l’IA peut être incorrect.">
            <a:extLst>
              <a:ext uri="{FF2B5EF4-FFF2-40B4-BE49-F238E27FC236}">
                <a16:creationId xmlns:a16="http://schemas.microsoft.com/office/drawing/2014/main" id="{1BE185AC-FD27-C29C-A902-6DA2CFC716FC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63" r="21493" b="5490"/>
          <a:stretch>
            <a:fillRect/>
          </a:stretch>
        </p:blipFill>
        <p:spPr bwMode="auto">
          <a:xfrm>
            <a:off x="1217214" y="3952574"/>
            <a:ext cx="3875048" cy="2363011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Image 7" descr="Une image contenant Ingénierie électronique, Composant de circuit, Composant électronique, Appareils électroniques&#10;&#10;Le contenu généré par l’IA peut être incorrect.">
            <a:extLst>
              <a:ext uri="{FF2B5EF4-FFF2-40B4-BE49-F238E27FC236}">
                <a16:creationId xmlns:a16="http://schemas.microsoft.com/office/drawing/2014/main" id="{B6511657-4218-B4F0-0757-12EC251F2E1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0" t="5180" r="20781" b="5798"/>
          <a:stretch>
            <a:fillRect/>
          </a:stretch>
        </p:blipFill>
        <p:spPr bwMode="auto">
          <a:xfrm>
            <a:off x="5539156" y="4064656"/>
            <a:ext cx="4792394" cy="2610459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84FB037E-F236-5128-0010-278E06CAFCE3}"/>
              </a:ext>
            </a:extLst>
          </p:cNvPr>
          <p:cNvSpPr txBox="1"/>
          <p:nvPr/>
        </p:nvSpPr>
        <p:spPr>
          <a:xfrm>
            <a:off x="5237019" y="0"/>
            <a:ext cx="695498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3200" b="1" dirty="0">
                <a:solidFill>
                  <a:schemeClr val="bg1"/>
                </a:solidFill>
              </a:rPr>
              <a:t>Prototype lecteur et enregistreur</a:t>
            </a:r>
            <a:endParaRPr lang="fr-FR" sz="3200" dirty="0"/>
          </a:p>
        </p:txBody>
      </p:sp>
      <p:pic>
        <p:nvPicPr>
          <p:cNvPr id="3" name="Image 2" descr="Une image contenant texte, Appareils électroniques, Ingénierie électronique, circuit&#10;&#10;Le contenu généré par l’IA peut être incorrect.">
            <a:extLst>
              <a:ext uri="{FF2B5EF4-FFF2-40B4-BE49-F238E27FC236}">
                <a16:creationId xmlns:a16="http://schemas.microsoft.com/office/drawing/2014/main" id="{BEBEACC3-7B66-BB46-9AFD-F372D6C4C6D2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537"/>
          <a:stretch>
            <a:fillRect/>
          </a:stretch>
        </p:blipFill>
        <p:spPr bwMode="auto">
          <a:xfrm>
            <a:off x="5972554" y="960300"/>
            <a:ext cx="5853868" cy="35319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Image 3" descr="Une image contenant texte, circuit, Ingénierie électronique, ligne&#10;&#10;Le contenu généré par l’IA peut être incorrect.">
            <a:extLst>
              <a:ext uri="{FF2B5EF4-FFF2-40B4-BE49-F238E27FC236}">
                <a16:creationId xmlns:a16="http://schemas.microsoft.com/office/drawing/2014/main" id="{A70D4646-8626-2137-FD03-A8BAEED90E96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38" b="4693"/>
          <a:stretch>
            <a:fillRect/>
          </a:stretch>
        </p:blipFill>
        <p:spPr bwMode="auto">
          <a:xfrm>
            <a:off x="365578" y="847163"/>
            <a:ext cx="2791744" cy="36325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263E9211-9369-39AD-F90A-47D0932F2194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611944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>
            <a:extLst>
              <a:ext uri="{FF2B5EF4-FFF2-40B4-BE49-F238E27FC236}">
                <a16:creationId xmlns:a16="http://schemas.microsoft.com/office/drawing/2014/main" id="{184855BA-40D5-AF9E-3657-7B592312C645}"/>
              </a:ext>
            </a:extLst>
          </p:cNvPr>
          <p:cNvCxnSpPr>
            <a:cxnSpLocks/>
          </p:cNvCxnSpPr>
          <p:nvPr/>
        </p:nvCxnSpPr>
        <p:spPr>
          <a:xfrm>
            <a:off x="4981450" y="660117"/>
            <a:ext cx="611944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3440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CA5F4-018A-3144-B9ED-789C66493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nde diagonale 4">
            <a:extLst>
              <a:ext uri="{FF2B5EF4-FFF2-40B4-BE49-F238E27FC236}">
                <a16:creationId xmlns:a16="http://schemas.microsoft.com/office/drawing/2014/main" id="{0F4C7E92-F406-ACE3-BFC8-65E76AC424D6}"/>
              </a:ext>
            </a:extLst>
          </p:cNvPr>
          <p:cNvSpPr/>
          <p:nvPr/>
        </p:nvSpPr>
        <p:spPr>
          <a:xfrm>
            <a:off x="-49877" y="-116379"/>
            <a:ext cx="14198138" cy="7099069"/>
          </a:xfrm>
          <a:custGeom>
            <a:avLst/>
            <a:gdLst>
              <a:gd name="connsiteX0" fmla="*/ 0 w 15029416"/>
              <a:gd name="connsiteY0" fmla="*/ 6268419 h 12651971"/>
              <a:gd name="connsiteX1" fmla="*/ 7446324 w 15029416"/>
              <a:gd name="connsiteY1" fmla="*/ 0 h 12651971"/>
              <a:gd name="connsiteX2" fmla="*/ 15029416 w 15029416"/>
              <a:gd name="connsiteY2" fmla="*/ 0 h 12651971"/>
              <a:gd name="connsiteX3" fmla="*/ 0 w 15029416"/>
              <a:gd name="connsiteY3" fmla="*/ 12651971 h 12651971"/>
              <a:gd name="connsiteX4" fmla="*/ 0 w 15029416"/>
              <a:gd name="connsiteY4" fmla="*/ 6268419 h 12651971"/>
              <a:gd name="connsiteX0" fmla="*/ 0 w 15029416"/>
              <a:gd name="connsiteY0" fmla="*/ 6268419 h 12651971"/>
              <a:gd name="connsiteX1" fmla="*/ 7113815 w 15029416"/>
              <a:gd name="connsiteY1" fmla="*/ 781396 h 12651971"/>
              <a:gd name="connsiteX2" fmla="*/ 15029416 w 15029416"/>
              <a:gd name="connsiteY2" fmla="*/ 0 h 12651971"/>
              <a:gd name="connsiteX3" fmla="*/ 0 w 15029416"/>
              <a:gd name="connsiteY3" fmla="*/ 12651971 h 12651971"/>
              <a:gd name="connsiteX4" fmla="*/ 0 w 15029416"/>
              <a:gd name="connsiteY4" fmla="*/ 6268419 h 12651971"/>
              <a:gd name="connsiteX0" fmla="*/ 0 w 14164892"/>
              <a:gd name="connsiteY0" fmla="*/ 5536899 h 11920451"/>
              <a:gd name="connsiteX1" fmla="*/ 7113815 w 14164892"/>
              <a:gd name="connsiteY1" fmla="*/ 49876 h 11920451"/>
              <a:gd name="connsiteX2" fmla="*/ 14164892 w 14164892"/>
              <a:gd name="connsiteY2" fmla="*/ 0 h 11920451"/>
              <a:gd name="connsiteX3" fmla="*/ 0 w 14164892"/>
              <a:gd name="connsiteY3" fmla="*/ 11920451 h 11920451"/>
              <a:gd name="connsiteX4" fmla="*/ 0 w 14164892"/>
              <a:gd name="connsiteY4" fmla="*/ 5536899 h 11920451"/>
              <a:gd name="connsiteX0" fmla="*/ 16620 w 14181512"/>
              <a:gd name="connsiteY0" fmla="*/ 5536899 h 11920451"/>
              <a:gd name="connsiteX1" fmla="*/ 7130435 w 14181512"/>
              <a:gd name="connsiteY1" fmla="*/ 49876 h 11920451"/>
              <a:gd name="connsiteX2" fmla="*/ 14181512 w 14181512"/>
              <a:gd name="connsiteY2" fmla="*/ 0 h 11920451"/>
              <a:gd name="connsiteX3" fmla="*/ 16620 w 14181512"/>
              <a:gd name="connsiteY3" fmla="*/ 11920451 h 11920451"/>
              <a:gd name="connsiteX4" fmla="*/ 0 w 14181512"/>
              <a:gd name="connsiteY4" fmla="*/ 8212974 h 11920451"/>
              <a:gd name="connsiteX5" fmla="*/ 16620 w 14181512"/>
              <a:gd name="connsiteY5" fmla="*/ 5536899 h 11920451"/>
              <a:gd name="connsiteX0" fmla="*/ 16620 w 14181512"/>
              <a:gd name="connsiteY0" fmla="*/ 5536899 h 8212974"/>
              <a:gd name="connsiteX1" fmla="*/ 7130435 w 14181512"/>
              <a:gd name="connsiteY1" fmla="*/ 49876 h 8212974"/>
              <a:gd name="connsiteX2" fmla="*/ 14181512 w 14181512"/>
              <a:gd name="connsiteY2" fmla="*/ 0 h 8212974"/>
              <a:gd name="connsiteX3" fmla="*/ 5835529 w 14181512"/>
              <a:gd name="connsiteY3" fmla="*/ 7015942 h 8212974"/>
              <a:gd name="connsiteX4" fmla="*/ 0 w 14181512"/>
              <a:gd name="connsiteY4" fmla="*/ 8212974 h 8212974"/>
              <a:gd name="connsiteX5" fmla="*/ 16620 w 14181512"/>
              <a:gd name="connsiteY5" fmla="*/ 5536899 h 8212974"/>
              <a:gd name="connsiteX0" fmla="*/ 33246 w 14198138"/>
              <a:gd name="connsiteY0" fmla="*/ 5536899 h 7099069"/>
              <a:gd name="connsiteX1" fmla="*/ 7147061 w 14198138"/>
              <a:gd name="connsiteY1" fmla="*/ 49876 h 7099069"/>
              <a:gd name="connsiteX2" fmla="*/ 14198138 w 14198138"/>
              <a:gd name="connsiteY2" fmla="*/ 0 h 7099069"/>
              <a:gd name="connsiteX3" fmla="*/ 5852155 w 14198138"/>
              <a:gd name="connsiteY3" fmla="*/ 7015942 h 7099069"/>
              <a:gd name="connsiteX4" fmla="*/ 0 w 14198138"/>
              <a:gd name="connsiteY4" fmla="*/ 7099069 h 7099069"/>
              <a:gd name="connsiteX5" fmla="*/ 33246 w 14198138"/>
              <a:gd name="connsiteY5" fmla="*/ 5536899 h 7099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198138" h="7099069">
                <a:moveTo>
                  <a:pt x="33246" y="5536899"/>
                </a:moveTo>
                <a:lnTo>
                  <a:pt x="7147061" y="49876"/>
                </a:lnTo>
                <a:lnTo>
                  <a:pt x="14198138" y="0"/>
                </a:lnTo>
                <a:lnTo>
                  <a:pt x="5852155" y="7015942"/>
                </a:lnTo>
                <a:lnTo>
                  <a:pt x="0" y="7099069"/>
                </a:lnTo>
                <a:lnTo>
                  <a:pt x="33246" y="5536899"/>
                </a:lnTo>
                <a:close/>
              </a:path>
            </a:pathLst>
          </a:cu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87939360-89D2-E71A-58FB-A69A7D8AE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901" y="6035016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91A10427-77F0-8B67-B755-2330CFC00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8012AA9-8009-7D4E-C454-0335CB14DF45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Architecture Matérielle</a:t>
            </a:r>
            <a:endParaRPr lang="fr-BE" sz="3200" dirty="0">
              <a:solidFill>
                <a:schemeClr val="bg1"/>
              </a:solidFill>
            </a:endParaRPr>
          </a:p>
        </p:txBody>
      </p:sp>
      <p:pic>
        <p:nvPicPr>
          <p:cNvPr id="4" name="Image 3" descr="Une image contenant ligne, diagramme, texte, Police&#10;&#10;Le contenu généré par l’IA peut être incorrect.">
            <a:extLst>
              <a:ext uri="{FF2B5EF4-FFF2-40B4-BE49-F238E27FC236}">
                <a16:creationId xmlns:a16="http://schemas.microsoft.com/office/drawing/2014/main" id="{EFCE7530-879A-FB0E-531B-4AAC9810874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84" t="5417" b="5545"/>
          <a:stretch/>
        </p:blipFill>
        <p:spPr bwMode="auto">
          <a:xfrm>
            <a:off x="216130" y="1679167"/>
            <a:ext cx="11804071" cy="3524596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A15092CC-89B7-A3FC-8DA2-C444AECD2029}"/>
              </a:ext>
            </a:extLst>
          </p:cNvPr>
          <p:cNvSpPr txBox="1"/>
          <p:nvPr/>
        </p:nvSpPr>
        <p:spPr>
          <a:xfrm>
            <a:off x="6808766" y="0"/>
            <a:ext cx="55439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BE" sz="3200" b="1" dirty="0">
                <a:solidFill>
                  <a:schemeClr val="bg1"/>
                </a:solidFill>
              </a:rPr>
              <a:t>Communication</a:t>
            </a:r>
            <a:endParaRPr lang="fr-FR" sz="3200" dirty="0"/>
          </a:p>
        </p:txBody>
      </p: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BB6E27E5-90ED-6306-8F8A-E91928CDD3AE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611944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 11" descr="Une image contenant Graphique, graphism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26C144FE-35B5-B471-7894-4B461A82A60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09" y="1745667"/>
            <a:ext cx="805815" cy="690880"/>
          </a:xfrm>
          <a:prstGeom prst="rect">
            <a:avLst/>
          </a:prstGeom>
        </p:spPr>
      </p:pic>
      <p:pic>
        <p:nvPicPr>
          <p:cNvPr id="13" name="Image 12" descr="Une image contenant Graphique, fleur, graphisme, Police&#10;&#10;Le contenu généré par l’IA peut être incorrect.">
            <a:extLst>
              <a:ext uri="{FF2B5EF4-FFF2-40B4-BE49-F238E27FC236}">
                <a16:creationId xmlns:a16="http://schemas.microsoft.com/office/drawing/2014/main" id="{CDAF69EE-A204-EB49-BA28-E32948DA037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9620" y="1773818"/>
            <a:ext cx="1507454" cy="479876"/>
          </a:xfrm>
          <a:prstGeom prst="rect">
            <a:avLst/>
          </a:prstGeom>
        </p:spPr>
      </p:pic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78E09B8E-56EB-BA09-A100-855ED1703F65}"/>
              </a:ext>
            </a:extLst>
          </p:cNvPr>
          <p:cNvCxnSpPr>
            <a:cxnSpLocks/>
          </p:cNvCxnSpPr>
          <p:nvPr/>
        </p:nvCxnSpPr>
        <p:spPr>
          <a:xfrm>
            <a:off x="6096000" y="661182"/>
            <a:ext cx="454818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6697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DB4C7-CE8E-B1E6-8C1C-437A19D54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 : avec coins arrondis en diagonale 66">
            <a:extLst>
              <a:ext uri="{FF2B5EF4-FFF2-40B4-BE49-F238E27FC236}">
                <a16:creationId xmlns:a16="http://schemas.microsoft.com/office/drawing/2014/main" id="{9BE7C744-33E6-AD98-E764-B75B7B5039F8}"/>
              </a:ext>
            </a:extLst>
          </p:cNvPr>
          <p:cNvSpPr/>
          <p:nvPr/>
        </p:nvSpPr>
        <p:spPr>
          <a:xfrm rot="16200000">
            <a:off x="5714998" y="380995"/>
            <a:ext cx="6858003" cy="6096003"/>
          </a:xfrm>
          <a:prstGeom prst="round2Diag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9088CBD9-697D-E281-3908-F9C26A2137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28966" y="5806410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D5337BE7-2C76-3D33-6997-ED91EF60B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0A75EAD-B247-7308-75C8-A9B2AA9519DF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Architecture Logicielle</a:t>
            </a:r>
            <a:endParaRPr lang="fr-BE" sz="3200" dirty="0">
              <a:solidFill>
                <a:schemeClr val="bg1"/>
              </a:solidFill>
            </a:endParaRP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1829A84-A794-D81F-6232-D516B87B0678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542013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Graphique 21">
            <a:extLst>
              <a:ext uri="{FF2B5EF4-FFF2-40B4-BE49-F238E27FC236}">
                <a16:creationId xmlns:a16="http://schemas.microsoft.com/office/drawing/2014/main" id="{43D7D9CD-4DBC-1518-23C9-DC7C074DDD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88050" y="3333750"/>
            <a:ext cx="215900" cy="190500"/>
          </a:xfrm>
          <a:prstGeom prst="rect">
            <a:avLst/>
          </a:prstGeom>
        </p:spPr>
      </p:pic>
      <p:pic>
        <p:nvPicPr>
          <p:cNvPr id="26" name="Image 25" descr="Une image contenant Graphique, capture d’écran, logo, Police&#10;&#10;Le contenu généré par l’IA peut être incorrect.">
            <a:extLst>
              <a:ext uri="{FF2B5EF4-FFF2-40B4-BE49-F238E27FC236}">
                <a16:creationId xmlns:a16="http://schemas.microsoft.com/office/drawing/2014/main" id="{AE6242E7-031C-963C-E18F-C1B7D58EB5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72011" y="3012090"/>
            <a:ext cx="555970" cy="348935"/>
          </a:xfrm>
          <a:prstGeom prst="rect">
            <a:avLst/>
          </a:prstGeom>
        </p:spPr>
      </p:pic>
      <p:pic>
        <p:nvPicPr>
          <p:cNvPr id="28" name="Image 27" descr="Une image contenant Police, capture d’écran, Graphique, logo&#10;&#10;Le contenu généré par l’IA peut être incorrect.">
            <a:extLst>
              <a:ext uri="{FF2B5EF4-FFF2-40B4-BE49-F238E27FC236}">
                <a16:creationId xmlns:a16="http://schemas.microsoft.com/office/drawing/2014/main" id="{ACCA89E9-260F-277A-5315-B587A6E540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394" y="5727909"/>
            <a:ext cx="1274620" cy="512895"/>
          </a:xfrm>
          <a:prstGeom prst="rect">
            <a:avLst/>
          </a:prstGeom>
        </p:spPr>
      </p:pic>
      <p:pic>
        <p:nvPicPr>
          <p:cNvPr id="30" name="Image 29" descr="Une image contenant logo, texte, Police, Graphique&#10;&#10;Le contenu généré par l’IA peut être incorrect.">
            <a:extLst>
              <a:ext uri="{FF2B5EF4-FFF2-40B4-BE49-F238E27FC236}">
                <a16:creationId xmlns:a16="http://schemas.microsoft.com/office/drawing/2014/main" id="{13AA1807-3FD3-55C7-4649-C57C9947D3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89772" y="4090387"/>
            <a:ext cx="1159332" cy="587808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A123FA24-6F93-538E-C761-B68868A002AB}"/>
              </a:ext>
            </a:extLst>
          </p:cNvPr>
          <p:cNvSpPr txBox="1"/>
          <p:nvPr/>
        </p:nvSpPr>
        <p:spPr>
          <a:xfrm>
            <a:off x="-9994" y="1285857"/>
            <a:ext cx="61194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BE" sz="2800" b="1" dirty="0">
                <a:solidFill>
                  <a:srgbClr val="2C3A4B"/>
                </a:solidFill>
              </a:rPr>
              <a:t>Service système</a:t>
            </a:r>
            <a:endParaRPr lang="fr-BE" sz="2800" dirty="0">
              <a:solidFill>
                <a:srgbClr val="2C3A4B"/>
              </a:solidFill>
            </a:endParaRP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05CACF1-3533-D87C-D0AC-FE97E0F113EC}"/>
              </a:ext>
            </a:extLst>
          </p:cNvPr>
          <p:cNvSpPr txBox="1"/>
          <p:nvPr/>
        </p:nvSpPr>
        <p:spPr>
          <a:xfrm>
            <a:off x="6596134" y="1086220"/>
            <a:ext cx="4984261" cy="95410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BE" sz="2800" b="1" dirty="0">
                <a:solidFill>
                  <a:schemeClr val="bg1"/>
                </a:solidFill>
              </a:rPr>
              <a:t>Déploiement et conteneurisation</a:t>
            </a:r>
            <a:endParaRPr lang="fr-BE" sz="2800" dirty="0">
              <a:solidFill>
                <a:schemeClr val="bg1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B3D9B083-762E-EB71-FB34-214FB53C83CB}"/>
              </a:ext>
            </a:extLst>
          </p:cNvPr>
          <p:cNvSpPr txBox="1"/>
          <p:nvPr/>
        </p:nvSpPr>
        <p:spPr>
          <a:xfrm>
            <a:off x="589236" y="2385397"/>
            <a:ext cx="4797452" cy="4324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fr-BE" sz="2800" b="1" dirty="0">
                <a:solidFill>
                  <a:srgbClr val="2C3A4B"/>
                </a:solidFill>
              </a:rPr>
              <a:t>Frontend</a:t>
            </a:r>
            <a:endParaRPr lang="fr-BE" sz="2800" dirty="0">
              <a:solidFill>
                <a:srgbClr val="2C3A4B"/>
              </a:solidFill>
            </a:endParaRPr>
          </a:p>
        </p:txBody>
      </p:sp>
      <p:grpSp>
        <p:nvGrpSpPr>
          <p:cNvPr id="65" name="Groupe 64">
            <a:extLst>
              <a:ext uri="{FF2B5EF4-FFF2-40B4-BE49-F238E27FC236}">
                <a16:creationId xmlns:a16="http://schemas.microsoft.com/office/drawing/2014/main" id="{8F1B0748-0411-7F7B-BEC2-882C0321F554}"/>
              </a:ext>
            </a:extLst>
          </p:cNvPr>
          <p:cNvGrpSpPr/>
          <p:nvPr/>
        </p:nvGrpSpPr>
        <p:grpSpPr>
          <a:xfrm>
            <a:off x="1187011" y="3540206"/>
            <a:ext cx="3650768" cy="524429"/>
            <a:chOff x="1349059" y="3540206"/>
            <a:chExt cx="3650768" cy="524429"/>
          </a:xfrm>
        </p:grpSpPr>
        <p:pic>
          <p:nvPicPr>
            <p:cNvPr id="18" name="Graphique 17">
              <a:extLst>
                <a:ext uri="{FF2B5EF4-FFF2-40B4-BE49-F238E27FC236}">
                  <a16:creationId xmlns:a16="http://schemas.microsoft.com/office/drawing/2014/main" id="{E094D62E-54FE-4389-8E13-04E0EE7514D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322985" y="3571189"/>
              <a:ext cx="1676842" cy="493446"/>
            </a:xfrm>
            <a:prstGeom prst="rect">
              <a:avLst/>
            </a:prstGeom>
          </p:spPr>
        </p:pic>
        <p:sp>
          <p:nvSpPr>
            <p:cNvPr id="32" name="ZoneTexte 31">
              <a:extLst>
                <a:ext uri="{FF2B5EF4-FFF2-40B4-BE49-F238E27FC236}">
                  <a16:creationId xmlns:a16="http://schemas.microsoft.com/office/drawing/2014/main" id="{B7285447-8991-3C6F-2457-F1D0FA215044}"/>
                </a:ext>
              </a:extLst>
            </p:cNvPr>
            <p:cNvSpPr txBox="1"/>
            <p:nvPr/>
          </p:nvSpPr>
          <p:spPr>
            <a:xfrm>
              <a:off x="1349059" y="3540206"/>
              <a:ext cx="219559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fr-BE" sz="2800" b="1" dirty="0">
                  <a:solidFill>
                    <a:srgbClr val="2C3A4B"/>
                  </a:solidFill>
                </a:rPr>
                <a:t>Backend</a:t>
              </a:r>
              <a:endParaRPr lang="fr-BE" sz="2800" dirty="0">
                <a:solidFill>
                  <a:srgbClr val="2C3A4B"/>
                </a:solidFill>
              </a:endParaRPr>
            </a:p>
          </p:txBody>
        </p:sp>
      </p:grpSp>
      <p:grpSp>
        <p:nvGrpSpPr>
          <p:cNvPr id="66" name="Groupe 65">
            <a:extLst>
              <a:ext uri="{FF2B5EF4-FFF2-40B4-BE49-F238E27FC236}">
                <a16:creationId xmlns:a16="http://schemas.microsoft.com/office/drawing/2014/main" id="{3DF238CA-4A9A-DD2B-93C9-A588010904DA}"/>
              </a:ext>
            </a:extLst>
          </p:cNvPr>
          <p:cNvGrpSpPr/>
          <p:nvPr/>
        </p:nvGrpSpPr>
        <p:grpSpPr>
          <a:xfrm>
            <a:off x="1169250" y="4693540"/>
            <a:ext cx="3693920" cy="604276"/>
            <a:chOff x="1562791" y="4693540"/>
            <a:chExt cx="3693920" cy="604276"/>
          </a:xfrm>
        </p:grpSpPr>
        <p:pic>
          <p:nvPicPr>
            <p:cNvPr id="20" name="Graphique 19">
              <a:extLst>
                <a:ext uri="{FF2B5EF4-FFF2-40B4-BE49-F238E27FC236}">
                  <a16:creationId xmlns:a16="http://schemas.microsoft.com/office/drawing/2014/main" id="{79E8EC24-A470-3EC2-B114-6E54B6DD28B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670805" y="4693540"/>
              <a:ext cx="585906" cy="604276"/>
            </a:xfrm>
            <a:prstGeom prst="rect">
              <a:avLst/>
            </a:prstGeom>
          </p:spPr>
        </p:pic>
        <p:sp>
          <p:nvSpPr>
            <p:cNvPr id="34" name="ZoneTexte 33">
              <a:extLst>
                <a:ext uri="{FF2B5EF4-FFF2-40B4-BE49-F238E27FC236}">
                  <a16:creationId xmlns:a16="http://schemas.microsoft.com/office/drawing/2014/main" id="{656C4401-4CD9-E1AB-F969-BBA3BE2AE120}"/>
                </a:ext>
              </a:extLst>
            </p:cNvPr>
            <p:cNvSpPr txBox="1"/>
            <p:nvPr/>
          </p:nvSpPr>
          <p:spPr>
            <a:xfrm>
              <a:off x="1562791" y="4728265"/>
              <a:ext cx="3175503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fr-BE" sz="2800" b="1" dirty="0">
                  <a:solidFill>
                    <a:srgbClr val="2C3A4B"/>
                  </a:solidFill>
                </a:rPr>
                <a:t>Base de donnée</a:t>
              </a:r>
              <a:endParaRPr lang="fr-BE" sz="2800" dirty="0">
                <a:solidFill>
                  <a:srgbClr val="2C3A4B"/>
                </a:solidFill>
              </a:endParaRPr>
            </a:p>
          </p:txBody>
        </p:sp>
      </p:grpSp>
      <p:cxnSp>
        <p:nvCxnSpPr>
          <p:cNvPr id="44" name="Connecteur droit avec flèche 43">
            <a:extLst>
              <a:ext uri="{FF2B5EF4-FFF2-40B4-BE49-F238E27FC236}">
                <a16:creationId xmlns:a16="http://schemas.microsoft.com/office/drawing/2014/main" id="{F3B1BDDC-8FD7-0E4B-1917-B7295BAD169B}"/>
              </a:ext>
            </a:extLst>
          </p:cNvPr>
          <p:cNvCxnSpPr/>
          <p:nvPr/>
        </p:nvCxnSpPr>
        <p:spPr>
          <a:xfrm>
            <a:off x="3006866" y="2861360"/>
            <a:ext cx="0" cy="651921"/>
          </a:xfrm>
          <a:prstGeom prst="straightConnector1">
            <a:avLst/>
          </a:prstGeom>
          <a:ln w="57150">
            <a:solidFill>
              <a:srgbClr val="2C3A4B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avec flèche 44">
            <a:extLst>
              <a:ext uri="{FF2B5EF4-FFF2-40B4-BE49-F238E27FC236}">
                <a16:creationId xmlns:a16="http://schemas.microsoft.com/office/drawing/2014/main" id="{AC2FB489-1B35-B767-F0A7-C8B2004B2D51}"/>
              </a:ext>
            </a:extLst>
          </p:cNvPr>
          <p:cNvCxnSpPr/>
          <p:nvPr/>
        </p:nvCxnSpPr>
        <p:spPr>
          <a:xfrm>
            <a:off x="3006866" y="4032794"/>
            <a:ext cx="0" cy="651921"/>
          </a:xfrm>
          <a:prstGeom prst="straightConnector1">
            <a:avLst/>
          </a:prstGeom>
          <a:ln w="57150">
            <a:solidFill>
              <a:srgbClr val="2C3A4B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ectangle 48">
            <a:extLst>
              <a:ext uri="{FF2B5EF4-FFF2-40B4-BE49-F238E27FC236}">
                <a16:creationId xmlns:a16="http://schemas.microsoft.com/office/drawing/2014/main" id="{0A29F89A-BCA3-FCA8-4547-C13065D817A7}"/>
              </a:ext>
            </a:extLst>
          </p:cNvPr>
          <p:cNvSpPr/>
          <p:nvPr/>
        </p:nvSpPr>
        <p:spPr>
          <a:xfrm>
            <a:off x="296487" y="2061557"/>
            <a:ext cx="5444836" cy="3510585"/>
          </a:xfrm>
          <a:prstGeom prst="rect">
            <a:avLst/>
          </a:prstGeom>
          <a:noFill/>
          <a:ln w="38100">
            <a:solidFill>
              <a:srgbClr val="2C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Rectangle : avec coin rogné 49">
            <a:extLst>
              <a:ext uri="{FF2B5EF4-FFF2-40B4-BE49-F238E27FC236}">
                <a16:creationId xmlns:a16="http://schemas.microsoft.com/office/drawing/2014/main" id="{07FAD61F-CB75-C821-E847-89D9130C185F}"/>
              </a:ext>
            </a:extLst>
          </p:cNvPr>
          <p:cNvSpPr/>
          <p:nvPr/>
        </p:nvSpPr>
        <p:spPr>
          <a:xfrm>
            <a:off x="296487" y="1048677"/>
            <a:ext cx="5444836" cy="1009779"/>
          </a:xfrm>
          <a:prstGeom prst="snip1Rect">
            <a:avLst/>
          </a:prstGeom>
          <a:noFill/>
          <a:ln w="38100">
            <a:solidFill>
              <a:srgbClr val="2C3A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52" name="Groupe 51">
            <a:extLst>
              <a:ext uri="{FF2B5EF4-FFF2-40B4-BE49-F238E27FC236}">
                <a16:creationId xmlns:a16="http://schemas.microsoft.com/office/drawing/2014/main" id="{C9E48C15-FDF1-9FF4-828A-1A025D83AC21}"/>
              </a:ext>
            </a:extLst>
          </p:cNvPr>
          <p:cNvGrpSpPr/>
          <p:nvPr/>
        </p:nvGrpSpPr>
        <p:grpSpPr>
          <a:xfrm>
            <a:off x="6450677" y="1082028"/>
            <a:ext cx="5444836" cy="4467791"/>
            <a:chOff x="1446411" y="1187476"/>
            <a:chExt cx="3240000" cy="4467791"/>
          </a:xfrm>
        </p:grpSpPr>
        <p:grpSp>
          <p:nvGrpSpPr>
            <p:cNvPr id="53" name="Groupe 52">
              <a:extLst>
                <a:ext uri="{FF2B5EF4-FFF2-40B4-BE49-F238E27FC236}">
                  <a16:creationId xmlns:a16="http://schemas.microsoft.com/office/drawing/2014/main" id="{622F0DA1-A9D7-260B-D830-A0C08BB32E96}"/>
                </a:ext>
              </a:extLst>
            </p:cNvPr>
            <p:cNvGrpSpPr/>
            <p:nvPr/>
          </p:nvGrpSpPr>
          <p:grpSpPr>
            <a:xfrm>
              <a:off x="1620614" y="2468522"/>
              <a:ext cx="2854768" cy="2866088"/>
              <a:chOff x="-16628" y="1133400"/>
              <a:chExt cx="6119450" cy="3467966"/>
            </a:xfrm>
          </p:grpSpPr>
          <p:sp>
            <p:nvSpPr>
              <p:cNvPr id="56" name="ZoneTexte 55">
                <a:extLst>
                  <a:ext uri="{FF2B5EF4-FFF2-40B4-BE49-F238E27FC236}">
                    <a16:creationId xmlns:a16="http://schemas.microsoft.com/office/drawing/2014/main" id="{74F52429-723E-E824-5DC5-302B396387D2}"/>
                  </a:ext>
                </a:extLst>
              </p:cNvPr>
              <p:cNvSpPr txBox="1"/>
              <p:nvPr/>
            </p:nvSpPr>
            <p:spPr>
              <a:xfrm>
                <a:off x="-16628" y="1133400"/>
                <a:ext cx="6119450" cy="633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fr-BE" sz="2800" b="1" dirty="0">
                    <a:solidFill>
                      <a:schemeClr val="bg1"/>
                    </a:solidFill>
                  </a:rPr>
                  <a:t>Interface Utilisateur</a:t>
                </a:r>
                <a:endParaRPr lang="fr-BE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ZoneTexte 56">
                <a:extLst>
                  <a:ext uri="{FF2B5EF4-FFF2-40B4-BE49-F238E27FC236}">
                    <a16:creationId xmlns:a16="http://schemas.microsoft.com/office/drawing/2014/main" id="{954AD1C9-C868-C8CA-720B-498F50E0F34B}"/>
                  </a:ext>
                </a:extLst>
              </p:cNvPr>
              <p:cNvSpPr txBox="1"/>
              <p:nvPr/>
            </p:nvSpPr>
            <p:spPr>
              <a:xfrm>
                <a:off x="-9453" y="2550835"/>
                <a:ext cx="6112275" cy="633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fr-BE" sz="2800" b="1" dirty="0">
                    <a:solidFill>
                      <a:schemeClr val="bg1"/>
                    </a:solidFill>
                  </a:rPr>
                  <a:t>Logique applicative</a:t>
                </a:r>
                <a:endParaRPr lang="fr-BE" sz="2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ZoneTexte 57">
                <a:extLst>
                  <a:ext uri="{FF2B5EF4-FFF2-40B4-BE49-F238E27FC236}">
                    <a16:creationId xmlns:a16="http://schemas.microsoft.com/office/drawing/2014/main" id="{8EF85680-DF64-8D2F-1F40-F84DF1D1E3A3}"/>
                  </a:ext>
                </a:extLst>
              </p:cNvPr>
              <p:cNvSpPr txBox="1"/>
              <p:nvPr/>
            </p:nvSpPr>
            <p:spPr>
              <a:xfrm>
                <a:off x="0" y="3968270"/>
                <a:ext cx="6102822" cy="6330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fr-BE" sz="2800" b="1" dirty="0">
                    <a:solidFill>
                      <a:schemeClr val="bg1"/>
                    </a:solidFill>
                  </a:rPr>
                  <a:t>Stockage et persistance</a:t>
                </a:r>
                <a:endParaRPr lang="fr-BE" sz="2800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59" name="Connecteur droit avec flèche 58">
                <a:extLst>
                  <a:ext uri="{FF2B5EF4-FFF2-40B4-BE49-F238E27FC236}">
                    <a16:creationId xmlns:a16="http://schemas.microsoft.com/office/drawing/2014/main" id="{310F6BD0-3DDE-C85A-05DD-3B5B17ADECB2}"/>
                  </a:ext>
                </a:extLst>
              </p:cNvPr>
              <p:cNvCxnSpPr/>
              <p:nvPr/>
            </p:nvCxnSpPr>
            <p:spPr>
              <a:xfrm>
                <a:off x="3067210" y="1709315"/>
                <a:ext cx="0" cy="788825"/>
              </a:xfrm>
              <a:prstGeom prst="straightConnector1">
                <a:avLst/>
              </a:prstGeom>
              <a:ln w="57150"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Connecteur droit avec flèche 59">
                <a:extLst>
                  <a:ext uri="{FF2B5EF4-FFF2-40B4-BE49-F238E27FC236}">
                    <a16:creationId xmlns:a16="http://schemas.microsoft.com/office/drawing/2014/main" id="{81D0352C-B267-79E8-41D5-747A02A9B968}"/>
                  </a:ext>
                </a:extLst>
              </p:cNvPr>
              <p:cNvCxnSpPr/>
              <p:nvPr/>
            </p:nvCxnSpPr>
            <p:spPr>
              <a:xfrm>
                <a:off x="3067210" y="3126750"/>
                <a:ext cx="0" cy="788825"/>
              </a:xfrm>
              <a:prstGeom prst="straightConnector1">
                <a:avLst/>
              </a:prstGeom>
              <a:ln w="57150">
                <a:solidFill>
                  <a:schemeClr val="bg1"/>
                </a:solidFill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62CC327B-0D68-26E9-74E8-516073473F0F}"/>
                </a:ext>
              </a:extLst>
            </p:cNvPr>
            <p:cNvSpPr/>
            <p:nvPr/>
          </p:nvSpPr>
          <p:spPr>
            <a:xfrm>
              <a:off x="1446411" y="2144683"/>
              <a:ext cx="3240000" cy="3510584"/>
            </a:xfrm>
            <a:prstGeom prst="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bg1"/>
                </a:solidFill>
              </a:endParaRPr>
            </a:p>
          </p:txBody>
        </p:sp>
        <p:sp>
          <p:nvSpPr>
            <p:cNvPr id="55" name="Rectangle : avec coin rogné 54">
              <a:extLst>
                <a:ext uri="{FF2B5EF4-FFF2-40B4-BE49-F238E27FC236}">
                  <a16:creationId xmlns:a16="http://schemas.microsoft.com/office/drawing/2014/main" id="{8FD44975-4534-A7FB-E146-D3EADA3AFC5C}"/>
                </a:ext>
              </a:extLst>
            </p:cNvPr>
            <p:cNvSpPr/>
            <p:nvPr/>
          </p:nvSpPr>
          <p:spPr>
            <a:xfrm>
              <a:off x="1446411" y="1187476"/>
              <a:ext cx="3240000" cy="954106"/>
            </a:xfrm>
            <a:prstGeom prst="snip1Rect">
              <a:avLst/>
            </a:prstGeom>
            <a:noFill/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bg1"/>
                </a:solidFill>
              </a:endParaRPr>
            </a:p>
          </p:txBody>
        </p:sp>
      </p:grpSp>
      <p:pic>
        <p:nvPicPr>
          <p:cNvPr id="64" name="Image 63" descr="websocket&#10;">
            <a:extLst>
              <a:ext uri="{FF2B5EF4-FFF2-40B4-BE49-F238E27FC236}">
                <a16:creationId xmlns:a16="http://schemas.microsoft.com/office/drawing/2014/main" id="{B6433B4C-3689-D235-6C08-141BF5C97F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39309" y="2983961"/>
            <a:ext cx="576912" cy="355023"/>
          </a:xfrm>
          <a:prstGeom prst="rect">
            <a:avLst/>
          </a:prstGeom>
        </p:spPr>
      </p:pic>
      <p:sp>
        <p:nvSpPr>
          <p:cNvPr id="70" name="ZoneTexte 69">
            <a:extLst>
              <a:ext uri="{FF2B5EF4-FFF2-40B4-BE49-F238E27FC236}">
                <a16:creationId xmlns:a16="http://schemas.microsoft.com/office/drawing/2014/main" id="{C89476BB-F6D3-48AF-2F2E-B1AF573CED55}"/>
              </a:ext>
            </a:extLst>
          </p:cNvPr>
          <p:cNvSpPr txBox="1"/>
          <p:nvPr/>
        </p:nvSpPr>
        <p:spPr>
          <a:xfrm>
            <a:off x="5944233" y="27304"/>
            <a:ext cx="61232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fr-BE" dirty="0"/>
              <a:t>Représentation en couches</a:t>
            </a:r>
            <a:endParaRPr lang="fr-FR" dirty="0"/>
          </a:p>
        </p:txBody>
      </p: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226BF694-73A2-ACF8-CB17-2391CAA47844}"/>
              </a:ext>
            </a:extLst>
          </p:cNvPr>
          <p:cNvCxnSpPr>
            <a:cxnSpLocks/>
          </p:cNvCxnSpPr>
          <p:nvPr/>
        </p:nvCxnSpPr>
        <p:spPr>
          <a:xfrm>
            <a:off x="6096000" y="661182"/>
            <a:ext cx="497655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5" name="Graphique 74">
            <a:extLst>
              <a:ext uri="{FF2B5EF4-FFF2-40B4-BE49-F238E27FC236}">
                <a16:creationId xmlns:a16="http://schemas.microsoft.com/office/drawing/2014/main" id="{02EF33E7-7E5E-2CD7-93CF-59F201FDEF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2040" y="2422973"/>
            <a:ext cx="452323" cy="39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0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E1BA1F-AB6A-0889-E7BD-4B38BB079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5856068-24E2-F77F-0998-26393845D91E}"/>
              </a:ext>
            </a:extLst>
          </p:cNvPr>
          <p:cNvSpPr/>
          <p:nvPr/>
        </p:nvSpPr>
        <p:spPr>
          <a:xfrm>
            <a:off x="-162231" y="621711"/>
            <a:ext cx="12395928" cy="4554974"/>
          </a:xfrm>
          <a:prstGeom prst="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45341648-38B0-A5B5-41FD-D9204C071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901" y="6035016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5F7815FB-B91B-5DB4-0A8B-C943F5C8C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2C5B28CE-C7D6-1A3A-F526-74A9A95204C1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Démonstration </a:t>
            </a:r>
            <a:endParaRPr lang="fr-BE" sz="3200" dirty="0">
              <a:solidFill>
                <a:schemeClr val="bg1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BD11D09B-CF87-AC6B-84DA-0C21163D2BAC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611944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016C22D9-7CD1-A12F-E3B1-609D0554FBC1}"/>
              </a:ext>
            </a:extLst>
          </p:cNvPr>
          <p:cNvSpPr txBox="1"/>
          <p:nvPr/>
        </p:nvSpPr>
        <p:spPr>
          <a:xfrm>
            <a:off x="6110483" y="27304"/>
            <a:ext cx="5998131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pPr algn="r"/>
            <a:r>
              <a:rPr lang="fr-BE" dirty="0">
                <a:solidFill>
                  <a:srgbClr val="2C3A4B"/>
                </a:solidFill>
              </a:rPr>
              <a:t>Le tableau de bord</a:t>
            </a:r>
            <a:endParaRPr lang="fr-FR" dirty="0">
              <a:solidFill>
                <a:srgbClr val="2C3A4B"/>
              </a:solidFill>
            </a:endParaRP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E9AD71A7-E691-CD33-845E-DBB96624890E}"/>
              </a:ext>
            </a:extLst>
          </p:cNvPr>
          <p:cNvCxnSpPr>
            <a:cxnSpLocks/>
          </p:cNvCxnSpPr>
          <p:nvPr/>
        </p:nvCxnSpPr>
        <p:spPr>
          <a:xfrm>
            <a:off x="6096000" y="661182"/>
            <a:ext cx="542013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Image 12" descr="Une image contenant texte, capture d’écran, affichage, nombre&#10;&#10;Le contenu généré par l’IA peut être incorrect.">
            <a:extLst>
              <a:ext uri="{FF2B5EF4-FFF2-40B4-BE49-F238E27FC236}">
                <a16:creationId xmlns:a16="http://schemas.microsoft.com/office/drawing/2014/main" id="{5978CA47-BCD0-90BA-66C6-B38C86A3F84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71" t="3547" r="3990" b="4781"/>
          <a:stretch>
            <a:fillRect/>
          </a:stretch>
        </p:blipFill>
        <p:spPr bwMode="auto">
          <a:xfrm>
            <a:off x="83386" y="1160539"/>
            <a:ext cx="6096004" cy="4575758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Image 11" descr="Une image contenant texte, capture d’écran, logiciel, affichage&#10;&#10;Le contenu généré par l’IA peut être incorrect.">
            <a:extLst>
              <a:ext uri="{FF2B5EF4-FFF2-40B4-BE49-F238E27FC236}">
                <a16:creationId xmlns:a16="http://schemas.microsoft.com/office/drawing/2014/main" id="{E7011174-A992-28E9-AACE-E6BFD464DB6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6" t="3260" r="5927" b="6046"/>
          <a:stretch>
            <a:fillRect/>
          </a:stretch>
        </p:blipFill>
        <p:spPr bwMode="auto">
          <a:xfrm>
            <a:off x="6114597" y="1161352"/>
            <a:ext cx="5994017" cy="4575769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24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4754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DF824-7B92-6742-CF40-BD62B035B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55F26A7-907B-C2F9-185A-ACA519B601D7}"/>
              </a:ext>
            </a:extLst>
          </p:cNvPr>
          <p:cNvSpPr/>
          <p:nvPr/>
        </p:nvSpPr>
        <p:spPr>
          <a:xfrm>
            <a:off x="-14752" y="-9348"/>
            <a:ext cx="12233700" cy="1206498"/>
          </a:xfrm>
          <a:prstGeom prst="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61580EF8-2F95-9877-59FB-77AA789C3E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1249CBF-D5B4-ECF4-3AFD-16B4AD48C362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chemeClr val="bg1"/>
                </a:solidFill>
              </a:rPr>
              <a:t>  Démonstration </a:t>
            </a:r>
            <a:endParaRPr lang="fr-BE" sz="3200" dirty="0">
              <a:solidFill>
                <a:schemeClr val="bg1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9337802-FD53-FDC2-B424-C079188D17A2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611944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78072709-B14E-7F3D-7E46-12286F11E2F8}"/>
              </a:ext>
            </a:extLst>
          </p:cNvPr>
          <p:cNvSpPr txBox="1"/>
          <p:nvPr/>
        </p:nvSpPr>
        <p:spPr>
          <a:xfrm>
            <a:off x="6110483" y="27304"/>
            <a:ext cx="5961513" cy="584775"/>
          </a:xfrm>
          <a:prstGeom prst="rect">
            <a:avLst/>
          </a:prstGeom>
          <a:noFill/>
          <a:ln>
            <a:solidFill>
              <a:srgbClr val="2C3A4B"/>
            </a:solidFill>
          </a:ln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pPr algn="r"/>
            <a:r>
              <a:rPr lang="fr-BE" dirty="0"/>
              <a:t>Le tableau de bord  </a:t>
            </a:r>
            <a:endParaRPr lang="fr-FR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3B25AB0-F12E-4581-1DDC-A639307F79E7}"/>
              </a:ext>
            </a:extLst>
          </p:cNvPr>
          <p:cNvCxnSpPr>
            <a:cxnSpLocks/>
          </p:cNvCxnSpPr>
          <p:nvPr/>
        </p:nvCxnSpPr>
        <p:spPr>
          <a:xfrm>
            <a:off x="6096000" y="661182"/>
            <a:ext cx="542013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 2" descr="Une image contenant capture d’écran, Logiciel multimédia, logiciel, Logiciel de graphisme&#10;&#10;Le contenu généré par l’IA peut être incorrect.">
            <a:extLst>
              <a:ext uri="{FF2B5EF4-FFF2-40B4-BE49-F238E27FC236}">
                <a16:creationId xmlns:a16="http://schemas.microsoft.com/office/drawing/2014/main" id="{E1170C3B-5B49-FE4E-1FA6-74DC635251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166"/>
          <a:stretch>
            <a:fillRect/>
          </a:stretch>
        </p:blipFill>
        <p:spPr>
          <a:xfrm>
            <a:off x="117987" y="876166"/>
            <a:ext cx="8480323" cy="4090498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</p:spPr>
      </p:pic>
      <p:pic>
        <p:nvPicPr>
          <p:cNvPr id="8" name="Image 7" descr="Une image contenant Logiciel multimédia, logiciel, Logiciel de graphism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8ACEB21-5352-38E9-53F5-1EE647BC795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843"/>
          <a:stretch>
            <a:fillRect/>
          </a:stretch>
        </p:blipFill>
        <p:spPr bwMode="auto">
          <a:xfrm>
            <a:off x="6816008" y="3297859"/>
            <a:ext cx="5241240" cy="3282412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299D7CCA-3462-982E-24CB-AC1B272C8D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10169" y="1326853"/>
            <a:ext cx="1161827" cy="766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78314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EC42B-F9EE-5F0B-7FA7-9D3E1B9A4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712AD30-B639-93FF-AA58-2B0AC03F1AA1}"/>
              </a:ext>
            </a:extLst>
          </p:cNvPr>
          <p:cNvSpPr/>
          <p:nvPr/>
        </p:nvSpPr>
        <p:spPr>
          <a:xfrm>
            <a:off x="-162231" y="621711"/>
            <a:ext cx="12395928" cy="3966914"/>
          </a:xfrm>
          <a:prstGeom prst="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58860DF2-3DBA-0882-A5C3-F3C69F50E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901" y="6035016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CB3B7195-140B-5E83-1B47-A4AB65A7D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0371A82-D746-C5E1-2261-B6E3F190ECD6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Démonstration </a:t>
            </a:r>
            <a:endParaRPr lang="fr-BE" sz="3200" dirty="0">
              <a:solidFill>
                <a:schemeClr val="bg1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E90EFFA9-3920-A510-C604-8F5077A3C470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611944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A96D5849-AB99-D4DC-119A-A3EBB62E4C7C}"/>
              </a:ext>
            </a:extLst>
          </p:cNvPr>
          <p:cNvSpPr txBox="1"/>
          <p:nvPr/>
        </p:nvSpPr>
        <p:spPr>
          <a:xfrm>
            <a:off x="6110483" y="27304"/>
            <a:ext cx="5998131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pPr algn="r"/>
            <a:r>
              <a:rPr lang="fr-BE" dirty="0">
                <a:solidFill>
                  <a:srgbClr val="2C3A4B"/>
                </a:solidFill>
              </a:rPr>
              <a:t>L’enregistrement d’un badge</a:t>
            </a:r>
            <a:endParaRPr lang="fr-FR" dirty="0">
              <a:solidFill>
                <a:srgbClr val="2C3A4B"/>
              </a:solidFill>
            </a:endParaRP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FF8C764A-6D55-82C2-66AE-D17A84FCC139}"/>
              </a:ext>
            </a:extLst>
          </p:cNvPr>
          <p:cNvCxnSpPr>
            <a:cxnSpLocks/>
          </p:cNvCxnSpPr>
          <p:nvPr/>
        </p:nvCxnSpPr>
        <p:spPr>
          <a:xfrm>
            <a:off x="6096000" y="661182"/>
            <a:ext cx="542013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" name="Image 7" descr="Une image contenant capture d’écran, texte, logiciel, Logiciel multimédia&#10;&#10;Le contenu généré par l’IA peut être incorrect.">
            <a:extLst>
              <a:ext uri="{FF2B5EF4-FFF2-40B4-BE49-F238E27FC236}">
                <a16:creationId xmlns:a16="http://schemas.microsoft.com/office/drawing/2014/main" id="{99553678-E4B7-B321-CF45-6F9C876285B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71" t="15291" r="13228" b="4069"/>
          <a:stretch>
            <a:fillRect/>
          </a:stretch>
        </p:blipFill>
        <p:spPr bwMode="auto">
          <a:xfrm>
            <a:off x="5031979" y="1382059"/>
            <a:ext cx="6947974" cy="3966906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Image 8" descr="Une image contenant texte, diagramme, capture d’écran, Plan&#10;&#10;Le contenu généré par l’IA peut être incorrect.">
            <a:extLst>
              <a:ext uri="{FF2B5EF4-FFF2-40B4-BE49-F238E27FC236}">
                <a16:creationId xmlns:a16="http://schemas.microsoft.com/office/drawing/2014/main" id="{C4F8758D-1AE2-809B-F65F-88A3C6D1AB0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02" t="1385" r="3463" b="1297"/>
          <a:stretch>
            <a:fillRect/>
          </a:stretch>
        </p:blipFill>
        <p:spPr>
          <a:xfrm>
            <a:off x="212047" y="700654"/>
            <a:ext cx="4833371" cy="5789796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09542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AADE0-FE3E-77C8-343B-0316C4F30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E73AFB4F-614A-A3CF-654D-8574485BB2CC}"/>
              </a:ext>
            </a:extLst>
          </p:cNvPr>
          <p:cNvSpPr/>
          <p:nvPr/>
        </p:nvSpPr>
        <p:spPr>
          <a:xfrm>
            <a:off x="-14752" y="-9348"/>
            <a:ext cx="12233700" cy="1206498"/>
          </a:xfrm>
          <a:prstGeom prst="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98C12A5B-620A-40FE-16EA-99C5B9DC2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250B529-D861-35F5-EA07-6A0447190EEB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chemeClr val="bg1"/>
                </a:solidFill>
              </a:rPr>
              <a:t>  Démonstration </a:t>
            </a:r>
            <a:endParaRPr lang="fr-BE" sz="3200" dirty="0">
              <a:solidFill>
                <a:schemeClr val="bg1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6099F34D-3928-24AD-F548-37E604D896EB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611944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EB645BF4-309F-DDDA-FD8B-EA71AFC2B685}"/>
              </a:ext>
            </a:extLst>
          </p:cNvPr>
          <p:cNvSpPr txBox="1"/>
          <p:nvPr/>
        </p:nvSpPr>
        <p:spPr>
          <a:xfrm>
            <a:off x="4172989" y="27304"/>
            <a:ext cx="7899007" cy="584775"/>
          </a:xfrm>
          <a:prstGeom prst="rect">
            <a:avLst/>
          </a:prstGeom>
          <a:noFill/>
          <a:ln>
            <a:solidFill>
              <a:srgbClr val="2C3A4B"/>
            </a:solidFill>
          </a:ln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pPr algn="r"/>
            <a:r>
              <a:rPr lang="fr-BE" dirty="0"/>
              <a:t>La lecture d’un badge et  journalisation </a:t>
            </a:r>
            <a:endParaRPr lang="fr-FR" dirty="0"/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101011BD-340B-71D5-98F6-3B31C2B7E3AA}"/>
              </a:ext>
            </a:extLst>
          </p:cNvPr>
          <p:cNvCxnSpPr>
            <a:cxnSpLocks/>
          </p:cNvCxnSpPr>
          <p:nvPr/>
        </p:nvCxnSpPr>
        <p:spPr>
          <a:xfrm>
            <a:off x="6096000" y="661182"/>
            <a:ext cx="542013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3CA0258F-B63D-A28E-36EF-547F9B0EB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901" y="6035016"/>
            <a:ext cx="1161827" cy="766712"/>
          </a:xfrm>
          <a:prstGeom prst="rect">
            <a:avLst/>
          </a:prstGeom>
        </p:spPr>
      </p:pic>
      <p:pic>
        <p:nvPicPr>
          <p:cNvPr id="12" name="Image 11" descr="Une image contenant texte, capture d’écran, logiciel&#10;&#10;Le contenu généré par l’IA peut être incorrect.">
            <a:extLst>
              <a:ext uri="{FF2B5EF4-FFF2-40B4-BE49-F238E27FC236}">
                <a16:creationId xmlns:a16="http://schemas.microsoft.com/office/drawing/2014/main" id="{BCAC2928-7F12-FD50-A91C-2073C9DDA2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35"/>
          <a:stretch>
            <a:fillRect/>
          </a:stretch>
        </p:blipFill>
        <p:spPr>
          <a:xfrm>
            <a:off x="4912161" y="1585594"/>
            <a:ext cx="7127258" cy="4086523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</p:spPr>
      </p:pic>
      <p:pic>
        <p:nvPicPr>
          <p:cNvPr id="15" name="Image 14" descr="Une image contenant texte, capture d’écran, diagramme, carte&#10;&#10;Le contenu généré par l’IA peut être incorrect.">
            <a:extLst>
              <a:ext uri="{FF2B5EF4-FFF2-40B4-BE49-F238E27FC236}">
                <a16:creationId xmlns:a16="http://schemas.microsoft.com/office/drawing/2014/main" id="{60E7C5F1-37D3-CD8F-8430-02030D07AA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901" t="559" r="3756" b="866"/>
          <a:stretch>
            <a:fillRect/>
          </a:stretch>
        </p:blipFill>
        <p:spPr>
          <a:xfrm>
            <a:off x="152581" y="947776"/>
            <a:ext cx="5849622" cy="5249042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8025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08F2A-0FFA-B7C9-EBBF-14E1C7AA9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1B34A-B435-0FE4-BC45-CB8DF889F6A3}"/>
              </a:ext>
            </a:extLst>
          </p:cNvPr>
          <p:cNvSpPr/>
          <p:nvPr/>
        </p:nvSpPr>
        <p:spPr>
          <a:xfrm>
            <a:off x="-162231" y="621711"/>
            <a:ext cx="12395928" cy="4554974"/>
          </a:xfrm>
          <a:prstGeom prst="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686F25EA-3E8B-63B9-5C37-917292717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3901" y="6035016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457AEF63-8CF4-6561-48FC-4D629BF70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FF19572B-A9AC-0376-7452-B8341CA64C5C}"/>
              </a:ext>
            </a:extLst>
          </p:cNvPr>
          <p:cNvSpPr txBox="1"/>
          <p:nvPr/>
        </p:nvSpPr>
        <p:spPr>
          <a:xfrm>
            <a:off x="-4" y="36936"/>
            <a:ext cx="609600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rgbClr val="2C3A4B"/>
                </a:solidFill>
              </a:rPr>
              <a:t>  Démonstration </a:t>
            </a:r>
            <a:endParaRPr lang="fr-BE" sz="3200" dirty="0">
              <a:solidFill>
                <a:schemeClr val="bg1"/>
              </a:solidFill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8B78AFD-8586-A78B-D0F8-D5AE838211F1}"/>
              </a:ext>
            </a:extLst>
          </p:cNvPr>
          <p:cNvCxnSpPr>
            <a:cxnSpLocks/>
          </p:cNvCxnSpPr>
          <p:nvPr/>
        </p:nvCxnSpPr>
        <p:spPr>
          <a:xfrm>
            <a:off x="689317" y="661182"/>
            <a:ext cx="611944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A449B2A7-E826-9064-A5FA-D5C2847D9A17}"/>
              </a:ext>
            </a:extLst>
          </p:cNvPr>
          <p:cNvSpPr txBox="1"/>
          <p:nvPr/>
        </p:nvSpPr>
        <p:spPr>
          <a:xfrm>
            <a:off x="6110483" y="27304"/>
            <a:ext cx="5998131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defPPr>
              <a:defRPr lang="fr-FR"/>
            </a:defPPr>
            <a:lvl1pPr algn="ctr">
              <a:defRPr sz="3200" b="1">
                <a:solidFill>
                  <a:schemeClr val="bg1"/>
                </a:solidFill>
              </a:defRPr>
            </a:lvl1pPr>
          </a:lstStyle>
          <a:p>
            <a:pPr algn="r"/>
            <a:r>
              <a:rPr lang="fr-BE" dirty="0">
                <a:solidFill>
                  <a:srgbClr val="2C3A4B"/>
                </a:solidFill>
              </a:rPr>
              <a:t>Interface appareils</a:t>
            </a:r>
            <a:endParaRPr lang="fr-FR" dirty="0">
              <a:solidFill>
                <a:srgbClr val="2C3A4B"/>
              </a:solidFill>
            </a:endParaRPr>
          </a:p>
        </p:txBody>
      </p: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24B32DCF-CBC4-9760-78D2-B66C9E37355B}"/>
              </a:ext>
            </a:extLst>
          </p:cNvPr>
          <p:cNvCxnSpPr>
            <a:cxnSpLocks/>
          </p:cNvCxnSpPr>
          <p:nvPr/>
        </p:nvCxnSpPr>
        <p:spPr>
          <a:xfrm>
            <a:off x="6096000" y="661182"/>
            <a:ext cx="5420139" cy="0"/>
          </a:xfrm>
          <a:prstGeom prst="line">
            <a:avLst/>
          </a:prstGeom>
          <a:ln w="38100">
            <a:solidFill>
              <a:srgbClr val="2C3A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Image 8" descr="Une image contenant capture d’écran, texte, conception&#10;&#10;Le contenu généré par l’IA peut être incorrect.">
            <a:extLst>
              <a:ext uri="{FF2B5EF4-FFF2-40B4-BE49-F238E27FC236}">
                <a16:creationId xmlns:a16="http://schemas.microsoft.com/office/drawing/2014/main" id="{D26E6D57-9809-ECAE-B3D3-965CC2F70C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08"/>
          <a:stretch>
            <a:fillRect/>
          </a:stretch>
        </p:blipFill>
        <p:spPr>
          <a:xfrm>
            <a:off x="395282" y="1091331"/>
            <a:ext cx="10457931" cy="4470163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</p:spPr>
      </p:pic>
      <p:pic>
        <p:nvPicPr>
          <p:cNvPr id="8" name="Image 7" descr="Une image contenant capture d’écran, texte&#10;&#10;Le contenu généré par l’IA peut être incorrect.">
            <a:extLst>
              <a:ext uri="{FF2B5EF4-FFF2-40B4-BE49-F238E27FC236}">
                <a16:creationId xmlns:a16="http://schemas.microsoft.com/office/drawing/2014/main" id="{F83A81A8-CE86-3E59-41DB-1A340728698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79" r="4762" b="8352"/>
          <a:stretch>
            <a:fillRect/>
          </a:stretch>
        </p:blipFill>
        <p:spPr bwMode="auto">
          <a:xfrm>
            <a:off x="6688475" y="3517065"/>
            <a:ext cx="5420139" cy="2399628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700406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A4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FC419E-0E05-A4DE-5667-1F2503A04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apèze 11">
            <a:extLst>
              <a:ext uri="{FF2B5EF4-FFF2-40B4-BE49-F238E27FC236}">
                <a16:creationId xmlns:a16="http://schemas.microsoft.com/office/drawing/2014/main" id="{688C6ADA-19DB-00B3-26E3-DF989CEEC92C}"/>
              </a:ext>
            </a:extLst>
          </p:cNvPr>
          <p:cNvSpPr/>
          <p:nvPr/>
        </p:nvSpPr>
        <p:spPr>
          <a:xfrm rot="5400000">
            <a:off x="2977854" y="-2356148"/>
            <a:ext cx="6236289" cy="12192006"/>
          </a:xfrm>
          <a:prstGeom prst="trapezoid">
            <a:avLst>
              <a:gd name="adj" fmla="val 41364"/>
            </a:avLst>
          </a:prstGeom>
          <a:gradFill flip="none" rotWithShape="1">
            <a:gsLst>
              <a:gs pos="0">
                <a:schemeClr val="bg1"/>
              </a:gs>
              <a:gs pos="53000">
                <a:srgbClr val="2C3A4B">
                  <a:shade val="100000"/>
                  <a:satMod val="115000"/>
                </a:srgbClr>
              </a:gs>
            </a:gsLst>
            <a:lin ang="162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F5AD8E47-0EF9-0821-0E56-B1881B7D6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3901" y="6035016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284AF43C-C539-3CC5-F1EC-AD0D57996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5E4A6E6-01DF-16A5-46A3-8B581C9F808B}"/>
              </a:ext>
            </a:extLst>
          </p:cNvPr>
          <p:cNvSpPr txBox="1"/>
          <p:nvPr/>
        </p:nvSpPr>
        <p:spPr>
          <a:xfrm>
            <a:off x="-4" y="36936"/>
            <a:ext cx="121357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chemeClr val="bg1"/>
                </a:solidFill>
              </a:rPr>
              <a:t>  Problèmes rencontrés </a:t>
            </a:r>
            <a:endParaRPr lang="fr-BE" sz="3200" dirty="0">
              <a:solidFill>
                <a:schemeClr val="bg1"/>
              </a:solidFill>
            </a:endParaRPr>
          </a:p>
        </p:txBody>
      </p:sp>
      <p:pic>
        <p:nvPicPr>
          <p:cNvPr id="8" name="Image 7" descr="Une image contenant texte, papier, reçu, document&#10;&#10;Le contenu généré par l’IA peut être incorrect.">
            <a:extLst>
              <a:ext uri="{FF2B5EF4-FFF2-40B4-BE49-F238E27FC236}">
                <a16:creationId xmlns:a16="http://schemas.microsoft.com/office/drawing/2014/main" id="{998440ED-3A27-C8AC-6A09-CED89E60A4B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1543" r="9569" b="30707"/>
          <a:stretch>
            <a:fillRect/>
          </a:stretch>
        </p:blipFill>
        <p:spPr>
          <a:xfrm>
            <a:off x="5726244" y="2618509"/>
            <a:ext cx="6178696" cy="3359305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</p:spPr>
      </p:pic>
      <p:pic>
        <p:nvPicPr>
          <p:cNvPr id="11" name="Image 10" descr="Une image contenant texte, capture d’écran, nombre, logiciel&#10;&#10;Le contenu généré par l’IA peut être incorrect.">
            <a:extLst>
              <a:ext uri="{FF2B5EF4-FFF2-40B4-BE49-F238E27FC236}">
                <a16:creationId xmlns:a16="http://schemas.microsoft.com/office/drawing/2014/main" id="{EC7EFE60-235E-1AB4-902E-F404DBCBDE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684" y="803561"/>
            <a:ext cx="6781800" cy="3035300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</p:spPr>
      </p:pic>
      <p:pic>
        <p:nvPicPr>
          <p:cNvPr id="5" name="Image 4" descr="Une image contenant texte, Police, livr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03BAD69-D13F-1A5C-B10A-B620EBF5DFC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49407"/>
          <a:stretch>
            <a:fillRect/>
          </a:stretch>
        </p:blipFill>
        <p:spPr>
          <a:xfrm>
            <a:off x="554058" y="3110348"/>
            <a:ext cx="2882900" cy="1773382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</p:spPr>
      </p:pic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12AE2423-0B69-9E1F-3BFA-F9F903B98496}"/>
              </a:ext>
            </a:extLst>
          </p:cNvPr>
          <p:cNvCxnSpPr>
            <a:cxnSpLocks/>
          </p:cNvCxnSpPr>
          <p:nvPr/>
        </p:nvCxnSpPr>
        <p:spPr>
          <a:xfrm>
            <a:off x="-4" y="621711"/>
            <a:ext cx="3851568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24489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83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43A8D-CAB2-C431-4F39-49794B635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23" descr="Une image contenant capture d’écran&#10;&#10;Le contenu généré par l’IA peut être incorrect.">
            <a:extLst>
              <a:ext uri="{FF2B5EF4-FFF2-40B4-BE49-F238E27FC236}">
                <a16:creationId xmlns:a16="http://schemas.microsoft.com/office/drawing/2014/main" id="{32CA62EC-109F-1825-7F5E-FC0192A4D3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68"/>
          <a:stretch>
            <a:fillRect/>
          </a:stretch>
        </p:blipFill>
        <p:spPr>
          <a:xfrm>
            <a:off x="5799028" y="-35595"/>
            <a:ext cx="6392972" cy="6929189"/>
          </a:xfrm>
          <a:prstGeom prst="rect">
            <a:avLst/>
          </a:prstGeom>
        </p:spPr>
      </p:pic>
      <p:sp>
        <p:nvSpPr>
          <p:cNvPr id="25" name="Rectangle : avec coin arrondi 24">
            <a:extLst>
              <a:ext uri="{FF2B5EF4-FFF2-40B4-BE49-F238E27FC236}">
                <a16:creationId xmlns:a16="http://schemas.microsoft.com/office/drawing/2014/main" id="{6C5AFD51-EA43-683C-E26D-1F0517A2DE3D}"/>
              </a:ext>
            </a:extLst>
          </p:cNvPr>
          <p:cNvSpPr/>
          <p:nvPr/>
        </p:nvSpPr>
        <p:spPr>
          <a:xfrm rot="16200000">
            <a:off x="-416594" y="400826"/>
            <a:ext cx="6929188" cy="6096000"/>
          </a:xfrm>
          <a:prstGeom prst="round1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 : avec coins arrondis en diagonale 14">
            <a:extLst>
              <a:ext uri="{FF2B5EF4-FFF2-40B4-BE49-F238E27FC236}">
                <a16:creationId xmlns:a16="http://schemas.microsoft.com/office/drawing/2014/main" id="{86947062-642A-EC46-58FB-81CE51B0AB90}"/>
              </a:ext>
            </a:extLst>
          </p:cNvPr>
          <p:cNvSpPr/>
          <p:nvPr/>
        </p:nvSpPr>
        <p:spPr>
          <a:xfrm rot="10800000">
            <a:off x="525792" y="730369"/>
            <a:ext cx="4920567" cy="5411291"/>
          </a:xfrm>
          <a:prstGeom prst="round2DiagRect">
            <a:avLst/>
          </a:prstGeom>
          <a:solidFill>
            <a:srgbClr val="2C3A4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6" name="Image 15" descr="Iram enseignement pour adultes">
            <a:extLst>
              <a:ext uri="{FF2B5EF4-FFF2-40B4-BE49-F238E27FC236}">
                <a16:creationId xmlns:a16="http://schemas.microsoft.com/office/drawing/2014/main" id="{5BE5EF2E-C819-4E95-A2E0-1801A3E80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8120" y="6028930"/>
            <a:ext cx="1161827" cy="766712"/>
          </a:xfrm>
          <a:prstGeom prst="rect">
            <a:avLst/>
          </a:prstGeom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16F1247-693C-E682-0B95-74EBA8947B32}"/>
              </a:ext>
            </a:extLst>
          </p:cNvPr>
          <p:cNvSpPr txBox="1"/>
          <p:nvPr/>
        </p:nvSpPr>
        <p:spPr>
          <a:xfrm>
            <a:off x="578126" y="36936"/>
            <a:ext cx="55178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chemeClr val="bg1"/>
                </a:solidFill>
              </a:rPr>
              <a:t>   Améliorations futurs </a:t>
            </a:r>
            <a:endParaRPr lang="fr-BE" sz="3200" dirty="0">
              <a:solidFill>
                <a:schemeClr val="bg1"/>
              </a:solidFill>
            </a:endParaRPr>
          </a:p>
        </p:txBody>
      </p:sp>
      <p:sp>
        <p:nvSpPr>
          <p:cNvPr id="10" name="Rectangle 14">
            <a:extLst>
              <a:ext uri="{FF2B5EF4-FFF2-40B4-BE49-F238E27FC236}">
                <a16:creationId xmlns:a16="http://schemas.microsoft.com/office/drawing/2014/main" id="{9489D3E4-00CD-7C07-653A-18F9B0413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D170F73-C7FC-46F6-93DD-BE010E41975A}"/>
              </a:ext>
            </a:extLst>
          </p:cNvPr>
          <p:cNvSpPr txBox="1"/>
          <p:nvPr/>
        </p:nvSpPr>
        <p:spPr>
          <a:xfrm>
            <a:off x="1011368" y="2612296"/>
            <a:ext cx="437889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</a:lstStyle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fr-BE" sz="2000" dirty="0"/>
              <a:t>Architecture plus professionnelle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fr-BE" sz="2000" dirty="0"/>
              <a:t>Backend 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fr-BE" sz="2000" dirty="0"/>
              <a:t>Frontend 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fr-BE" sz="2000" dirty="0"/>
              <a:t>API et IoTs</a:t>
            </a:r>
          </a:p>
          <a:p>
            <a:pPr>
              <a:lnSpc>
                <a:spcPct val="100000"/>
              </a:lnSpc>
              <a:buFont typeface="Courier New" panose="02070309020205020404" pitchFamily="49" charset="0"/>
              <a:buChar char="o"/>
            </a:pPr>
            <a:r>
              <a:rPr lang="fr-BE" sz="2000" dirty="0"/>
              <a:t>Sécurité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A8BEEC6-0C1F-548D-3D99-8D4CBF792A2C}"/>
              </a:ext>
            </a:extLst>
          </p:cNvPr>
          <p:cNvSpPr txBox="1"/>
          <p:nvPr/>
        </p:nvSpPr>
        <p:spPr>
          <a:xfrm>
            <a:off x="581892" y="4338707"/>
            <a:ext cx="4836083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</a:lstStyle>
          <a:p>
            <a:r>
              <a:rPr lang="fr-BE" dirty="0"/>
              <a:t>Évolutions fonctionnelles</a:t>
            </a:r>
            <a:endParaRPr lang="fr-FR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1AD0981-7913-66D0-3890-F2CFA07C7243}"/>
              </a:ext>
            </a:extLst>
          </p:cNvPr>
          <p:cNvSpPr txBox="1"/>
          <p:nvPr/>
        </p:nvSpPr>
        <p:spPr>
          <a:xfrm>
            <a:off x="581893" y="2132432"/>
            <a:ext cx="4836083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</a:lstStyle>
          <a:p>
            <a:r>
              <a:rPr lang="fr-BE" dirty="0"/>
              <a:t>Amélioration techniques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AA38959-BA26-2EDF-E65C-0A7517CFC3DA}"/>
              </a:ext>
            </a:extLst>
          </p:cNvPr>
          <p:cNvSpPr txBox="1"/>
          <p:nvPr/>
        </p:nvSpPr>
        <p:spPr>
          <a:xfrm>
            <a:off x="581898" y="1558973"/>
            <a:ext cx="4808367" cy="59304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fr-FR"/>
            </a:defPPr>
            <a:lvl1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2400">
                <a:solidFill>
                  <a:schemeClr val="bg1"/>
                </a:solidFill>
              </a:defRPr>
            </a:lvl1pPr>
          </a:lstStyle>
          <a:p>
            <a:r>
              <a:rPr lang="fr-BE" dirty="0"/>
              <a:t>Perspectives générales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0334237"/>
      </p:ext>
    </p:extLst>
  </p:cSld>
  <p:clrMapOvr>
    <a:masterClrMapping/>
  </p:clrMapOvr>
  <p:transition spd="slow">
    <p:comb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2816E-7406-B86F-4AA1-E844B61EC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nde diagonale 3">
            <a:extLst>
              <a:ext uri="{FF2B5EF4-FFF2-40B4-BE49-F238E27FC236}">
                <a16:creationId xmlns:a16="http://schemas.microsoft.com/office/drawing/2014/main" id="{BF045166-F86E-A901-86F7-1C08428D54E4}"/>
              </a:ext>
            </a:extLst>
          </p:cNvPr>
          <p:cNvSpPr/>
          <p:nvPr/>
        </p:nvSpPr>
        <p:spPr>
          <a:xfrm>
            <a:off x="-33994" y="-133004"/>
            <a:ext cx="12469833" cy="7024255"/>
          </a:xfrm>
          <a:custGeom>
            <a:avLst/>
            <a:gdLst>
              <a:gd name="connsiteX0" fmla="*/ 0 w 12192005"/>
              <a:gd name="connsiteY0" fmla="*/ 2497958 h 6858000"/>
              <a:gd name="connsiteX1" fmla="*/ 4440816 w 12192005"/>
              <a:gd name="connsiteY1" fmla="*/ 0 h 6858000"/>
              <a:gd name="connsiteX2" fmla="*/ 12192005 w 12192005"/>
              <a:gd name="connsiteY2" fmla="*/ 0 h 6858000"/>
              <a:gd name="connsiteX3" fmla="*/ 0 w 12192005"/>
              <a:gd name="connsiteY3" fmla="*/ 6858000 h 6858000"/>
              <a:gd name="connsiteX4" fmla="*/ 0 w 12192005"/>
              <a:gd name="connsiteY4" fmla="*/ 2497958 h 6858000"/>
              <a:gd name="connsiteX0" fmla="*/ 0 w 12192005"/>
              <a:gd name="connsiteY0" fmla="*/ 2497958 h 6891251"/>
              <a:gd name="connsiteX1" fmla="*/ 4440816 w 12192005"/>
              <a:gd name="connsiteY1" fmla="*/ 0 h 6891251"/>
              <a:gd name="connsiteX2" fmla="*/ 12192005 w 12192005"/>
              <a:gd name="connsiteY2" fmla="*/ 0 h 6891251"/>
              <a:gd name="connsiteX3" fmla="*/ 2493818 w 12192005"/>
              <a:gd name="connsiteY3" fmla="*/ 6891251 h 6891251"/>
              <a:gd name="connsiteX4" fmla="*/ 0 w 12192005"/>
              <a:gd name="connsiteY4" fmla="*/ 2497958 h 6891251"/>
              <a:gd name="connsiteX0" fmla="*/ 0 w 12192005"/>
              <a:gd name="connsiteY0" fmla="*/ 2497958 h 6891251"/>
              <a:gd name="connsiteX1" fmla="*/ 4440816 w 12192005"/>
              <a:gd name="connsiteY1" fmla="*/ 0 h 6891251"/>
              <a:gd name="connsiteX2" fmla="*/ 12192005 w 12192005"/>
              <a:gd name="connsiteY2" fmla="*/ 0 h 6891251"/>
              <a:gd name="connsiteX3" fmla="*/ 2493818 w 12192005"/>
              <a:gd name="connsiteY3" fmla="*/ 6891251 h 6891251"/>
              <a:gd name="connsiteX4" fmla="*/ 1130537 w 12192005"/>
              <a:gd name="connsiteY4" fmla="*/ 4572000 h 6891251"/>
              <a:gd name="connsiteX5" fmla="*/ 0 w 12192005"/>
              <a:gd name="connsiteY5" fmla="*/ 2497958 h 6891251"/>
              <a:gd name="connsiteX0" fmla="*/ 16619 w 12208624"/>
              <a:gd name="connsiteY0" fmla="*/ 2497958 h 6891251"/>
              <a:gd name="connsiteX1" fmla="*/ 4457435 w 12208624"/>
              <a:gd name="connsiteY1" fmla="*/ 0 h 6891251"/>
              <a:gd name="connsiteX2" fmla="*/ 12208624 w 12208624"/>
              <a:gd name="connsiteY2" fmla="*/ 0 h 6891251"/>
              <a:gd name="connsiteX3" fmla="*/ 2510437 w 12208624"/>
              <a:gd name="connsiteY3" fmla="*/ 6891251 h 6891251"/>
              <a:gd name="connsiteX4" fmla="*/ 0 w 12208624"/>
              <a:gd name="connsiteY4" fmla="*/ 6882938 h 6891251"/>
              <a:gd name="connsiteX5" fmla="*/ 16619 w 12208624"/>
              <a:gd name="connsiteY5" fmla="*/ 2497958 h 6891251"/>
              <a:gd name="connsiteX0" fmla="*/ 736 w 12225992"/>
              <a:gd name="connsiteY0" fmla="*/ 3445609 h 6891251"/>
              <a:gd name="connsiteX1" fmla="*/ 4474803 w 12225992"/>
              <a:gd name="connsiteY1" fmla="*/ 0 h 6891251"/>
              <a:gd name="connsiteX2" fmla="*/ 12225992 w 12225992"/>
              <a:gd name="connsiteY2" fmla="*/ 0 h 6891251"/>
              <a:gd name="connsiteX3" fmla="*/ 2527805 w 12225992"/>
              <a:gd name="connsiteY3" fmla="*/ 6891251 h 6891251"/>
              <a:gd name="connsiteX4" fmla="*/ 17368 w 12225992"/>
              <a:gd name="connsiteY4" fmla="*/ 6882938 h 6891251"/>
              <a:gd name="connsiteX5" fmla="*/ 736 w 12225992"/>
              <a:gd name="connsiteY5" fmla="*/ 3445609 h 6891251"/>
              <a:gd name="connsiteX0" fmla="*/ 736 w 12225992"/>
              <a:gd name="connsiteY0" fmla="*/ 3495485 h 6941127"/>
              <a:gd name="connsiteX1" fmla="*/ 4873814 w 12225992"/>
              <a:gd name="connsiteY1" fmla="*/ 0 h 6941127"/>
              <a:gd name="connsiteX2" fmla="*/ 12225992 w 12225992"/>
              <a:gd name="connsiteY2" fmla="*/ 49876 h 6941127"/>
              <a:gd name="connsiteX3" fmla="*/ 2527805 w 12225992"/>
              <a:gd name="connsiteY3" fmla="*/ 6941127 h 6941127"/>
              <a:gd name="connsiteX4" fmla="*/ 17368 w 12225992"/>
              <a:gd name="connsiteY4" fmla="*/ 6932814 h 6941127"/>
              <a:gd name="connsiteX5" fmla="*/ 736 w 12225992"/>
              <a:gd name="connsiteY5" fmla="*/ 3495485 h 6941127"/>
              <a:gd name="connsiteX0" fmla="*/ 736 w 12225992"/>
              <a:gd name="connsiteY0" fmla="*/ 3794743 h 6941127"/>
              <a:gd name="connsiteX1" fmla="*/ 4873814 w 12225992"/>
              <a:gd name="connsiteY1" fmla="*/ 0 h 6941127"/>
              <a:gd name="connsiteX2" fmla="*/ 12225992 w 12225992"/>
              <a:gd name="connsiteY2" fmla="*/ 49876 h 6941127"/>
              <a:gd name="connsiteX3" fmla="*/ 2527805 w 12225992"/>
              <a:gd name="connsiteY3" fmla="*/ 6941127 h 6941127"/>
              <a:gd name="connsiteX4" fmla="*/ 17368 w 12225992"/>
              <a:gd name="connsiteY4" fmla="*/ 6932814 h 6941127"/>
              <a:gd name="connsiteX5" fmla="*/ 736 w 12225992"/>
              <a:gd name="connsiteY5" fmla="*/ 3794743 h 6941127"/>
              <a:gd name="connsiteX0" fmla="*/ 736 w 12225992"/>
              <a:gd name="connsiteY0" fmla="*/ 3778117 h 6924501"/>
              <a:gd name="connsiteX1" fmla="*/ 5306076 w 12225992"/>
              <a:gd name="connsiteY1" fmla="*/ 0 h 6924501"/>
              <a:gd name="connsiteX2" fmla="*/ 12225992 w 12225992"/>
              <a:gd name="connsiteY2" fmla="*/ 33250 h 6924501"/>
              <a:gd name="connsiteX3" fmla="*/ 2527805 w 12225992"/>
              <a:gd name="connsiteY3" fmla="*/ 6924501 h 6924501"/>
              <a:gd name="connsiteX4" fmla="*/ 17368 w 12225992"/>
              <a:gd name="connsiteY4" fmla="*/ 6916188 h 6924501"/>
              <a:gd name="connsiteX5" fmla="*/ 736 w 12225992"/>
              <a:gd name="connsiteY5" fmla="*/ 3778117 h 6924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225992" h="6924501">
                <a:moveTo>
                  <a:pt x="736" y="3778117"/>
                </a:moveTo>
                <a:lnTo>
                  <a:pt x="5306076" y="0"/>
                </a:lnTo>
                <a:lnTo>
                  <a:pt x="12225992" y="33250"/>
                </a:lnTo>
                <a:lnTo>
                  <a:pt x="2527805" y="6924501"/>
                </a:lnTo>
                <a:lnTo>
                  <a:pt x="17368" y="6916188"/>
                </a:lnTo>
                <a:cubicBezTo>
                  <a:pt x="22908" y="5454528"/>
                  <a:pt x="-4804" y="5239777"/>
                  <a:pt x="736" y="3778117"/>
                </a:cubicBezTo>
                <a:close/>
              </a:path>
            </a:pathLst>
          </a:cu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73206DE6-6CAC-E3B3-18A6-150FF298A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3901" y="6035016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A98CDC2B-127E-66C0-E011-3F64F8071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774CE98-8CA7-6E37-61F9-B2CF7EA67E1F}"/>
              </a:ext>
            </a:extLst>
          </p:cNvPr>
          <p:cNvSpPr txBox="1"/>
          <p:nvPr/>
        </p:nvSpPr>
        <p:spPr>
          <a:xfrm rot="19444923">
            <a:off x="-313857" y="1604024"/>
            <a:ext cx="390077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4800" b="1" dirty="0">
                <a:solidFill>
                  <a:srgbClr val="2C3A4B"/>
                </a:solidFill>
              </a:rPr>
              <a:t>  Conclusion</a:t>
            </a:r>
            <a:endParaRPr lang="fr-BE" sz="4800" dirty="0">
              <a:solidFill>
                <a:schemeClr val="bg1"/>
              </a:solidFill>
            </a:endParaRPr>
          </a:p>
        </p:txBody>
      </p:sp>
      <p:pic>
        <p:nvPicPr>
          <p:cNvPr id="3" name="Image 2" descr="Une image contenant intérieur, Appareils électroniques, Appareil électronique, Matériel d’ordinateur&#10;&#10;Le contenu généré par l’IA peut être incorrect.">
            <a:extLst>
              <a:ext uri="{FF2B5EF4-FFF2-40B4-BE49-F238E27FC236}">
                <a16:creationId xmlns:a16="http://schemas.microsoft.com/office/drawing/2014/main" id="{E92E755A-234E-C4EA-CE47-C88CD049114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9726" t="3108" r="29224"/>
          <a:stretch>
            <a:fillRect/>
          </a:stretch>
        </p:blipFill>
        <p:spPr bwMode="auto">
          <a:xfrm>
            <a:off x="3274987" y="451984"/>
            <a:ext cx="5918885" cy="5965239"/>
          </a:xfrm>
          <a:prstGeom prst="rect">
            <a:avLst/>
          </a:prstGeom>
          <a:ln w="38100" cap="sq">
            <a:solidFill>
              <a:srgbClr val="2C3A4B"/>
            </a:solidFill>
            <a:prstDash val="solid"/>
            <a:miter lim="800000"/>
          </a:ln>
          <a:effectLst>
            <a:outerShdw blurRad="254000" dist="63500" dir="3600000" sx="102000" sy="102000" algn="tl" rotWithShape="0">
              <a:srgbClr val="2C3A4B">
                <a:alpha val="72000"/>
              </a:srgbClr>
            </a:outerShdw>
          </a:effectLst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167290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drap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1456-36FB-660A-E9B3-9A4CF2C70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1498CCB-1F2A-9055-0C3C-90787D10F487}"/>
              </a:ext>
            </a:extLst>
          </p:cNvPr>
          <p:cNvSpPr/>
          <p:nvPr/>
        </p:nvSpPr>
        <p:spPr>
          <a:xfrm>
            <a:off x="-14752" y="-9348"/>
            <a:ext cx="12233700" cy="1206498"/>
          </a:xfrm>
          <a:prstGeom prst="rect">
            <a:avLst/>
          </a:prstGeom>
          <a:solidFill>
            <a:srgbClr val="2C3A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" name="Image 6" descr="Iram enseignement pour adultes">
            <a:extLst>
              <a:ext uri="{FF2B5EF4-FFF2-40B4-BE49-F238E27FC236}">
                <a16:creationId xmlns:a16="http://schemas.microsoft.com/office/drawing/2014/main" id="{5664BEC7-06AD-DECD-6F45-E44B15367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3901" y="6035016"/>
            <a:ext cx="1161827" cy="766712"/>
          </a:xfrm>
          <a:prstGeom prst="rect">
            <a:avLst/>
          </a:prstGeom>
        </p:spPr>
      </p:pic>
      <p:sp>
        <p:nvSpPr>
          <p:cNvPr id="10" name="Rectangle 14">
            <a:extLst>
              <a:ext uri="{FF2B5EF4-FFF2-40B4-BE49-F238E27FC236}">
                <a16:creationId xmlns:a16="http://schemas.microsoft.com/office/drawing/2014/main" id="{F80DAD5E-715B-C650-FBFC-222E48000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0450"/>
            <a:ext cx="4761742" cy="369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Patrick Pagnoulle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E711683-BD7B-0099-6892-3EED569C6871}"/>
              </a:ext>
            </a:extLst>
          </p:cNvPr>
          <p:cNvSpPr txBox="1"/>
          <p:nvPr/>
        </p:nvSpPr>
        <p:spPr>
          <a:xfrm>
            <a:off x="-4" y="3686"/>
            <a:ext cx="121357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BE" sz="3200" b="1" dirty="0">
                <a:solidFill>
                  <a:schemeClr val="bg1"/>
                </a:solidFill>
              </a:rPr>
              <a:t>  Remerciements</a:t>
            </a:r>
            <a:endParaRPr lang="fr-BE" sz="3200" dirty="0">
              <a:solidFill>
                <a:schemeClr val="bg1"/>
              </a:solidFill>
            </a:endParaRPr>
          </a:p>
        </p:txBody>
      </p:sp>
      <p:pic>
        <p:nvPicPr>
          <p:cNvPr id="11" name="Image 10" descr="Une image contenant habits, personne, Visage humain, sourire&#10;&#10;Le contenu généré par l’IA peut être incorrect.">
            <a:extLst>
              <a:ext uri="{FF2B5EF4-FFF2-40B4-BE49-F238E27FC236}">
                <a16:creationId xmlns:a16="http://schemas.microsoft.com/office/drawing/2014/main" id="{ABC8039F-575A-4399-2D88-08E04B0868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052" b="19414"/>
          <a:stretch>
            <a:fillRect/>
          </a:stretch>
        </p:blipFill>
        <p:spPr>
          <a:xfrm>
            <a:off x="0" y="588461"/>
            <a:ext cx="12192004" cy="5326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20430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250">
        <p15:prstTrans prst="fallOver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3676</TotalTime>
  <Words>326</Words>
  <Application>Microsoft Macintosh PowerPoint</Application>
  <PresentationFormat>Grand écran</PresentationFormat>
  <Paragraphs>129</Paragraphs>
  <Slides>17</Slides>
  <Notes>12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Courier New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patrick pagnoulle</dc:creator>
  <cp:lastModifiedBy>patrick pagnoulle</cp:lastModifiedBy>
  <cp:revision>18</cp:revision>
  <dcterms:created xsi:type="dcterms:W3CDTF">2025-09-13T09:39:25Z</dcterms:created>
  <dcterms:modified xsi:type="dcterms:W3CDTF">2025-09-18T06:25:41Z</dcterms:modified>
</cp:coreProperties>
</file>