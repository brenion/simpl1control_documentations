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68" r:id="rId10"/>
    <p:sldId id="266" r:id="rId11"/>
    <p:sldId id="267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3A4B"/>
    <a:srgbClr val="1C1A39"/>
    <a:srgbClr val="80273F"/>
    <a:srgbClr val="83243D"/>
    <a:srgbClr val="1664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09"/>
    <p:restoredTop sz="94538"/>
  </p:normalViewPr>
  <p:slideViewPr>
    <p:cSldViewPr snapToGrid="0">
      <p:cViewPr varScale="1">
        <p:scale>
          <a:sx n="108" d="100"/>
          <a:sy n="108" d="100"/>
        </p:scale>
        <p:origin x="1080" y="4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516C09-503B-BF4F-A21B-4189B7CDC989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59F614-8420-CA4F-ABC7-22E103F2DA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2659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 </a:t>
            </a:r>
          </a:p>
          <a:p>
            <a:r>
              <a:rPr lang="fr-BE" dirty="0"/>
              <a:t>- Nom</a:t>
            </a:r>
          </a:p>
          <a:p>
            <a:br>
              <a:rPr lang="fr-BE" dirty="0"/>
            </a:br>
            <a:r>
              <a:rPr lang="fr-BE" dirty="0"/>
              <a:t> - Annonce démonstration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0331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- Présente soi</a:t>
            </a:r>
          </a:p>
          <a:p>
            <a:r>
              <a:rPr lang="fr-FR" dirty="0"/>
              <a:t>- Boite</a:t>
            </a:r>
          </a:p>
          <a:p>
            <a:r>
              <a:rPr lang="fr-FR" dirty="0"/>
              <a:t>- projet stage</a:t>
            </a:r>
          </a:p>
          <a:p>
            <a:r>
              <a:rPr lang="fr-FR" dirty="0"/>
              <a:t>  </a:t>
            </a:r>
          </a:p>
          <a:p>
            <a:br>
              <a:rPr lang="fr-FR" dirty="0"/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6092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- supervision énergétique</a:t>
            </a:r>
          </a:p>
          <a:p>
            <a:endParaRPr lang="fr-BE" dirty="0"/>
          </a:p>
          <a:p>
            <a:r>
              <a:rPr lang="fr-BE" dirty="0"/>
              <a:t>- traçabilité d’accès</a:t>
            </a:r>
          </a:p>
          <a:p>
            <a:endParaRPr lang="fr-BE" dirty="0"/>
          </a:p>
          <a:p>
            <a:r>
              <a:rPr lang="fr-BE" dirty="0"/>
              <a:t>- interface simple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2992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- supervision</a:t>
            </a:r>
            <a:br>
              <a:rPr lang="fr-FR" dirty="0"/>
            </a:br>
            <a:r>
              <a:rPr lang="fr-FR" dirty="0"/>
              <a:t>- nos bureau </a:t>
            </a:r>
            <a:br>
              <a:rPr lang="fr-FR" dirty="0"/>
            </a:br>
            <a:r>
              <a:rPr lang="fr-FR" dirty="0"/>
              <a:t>- KNX / Home assistant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5370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Expliquer posément mais rapidement chaque élément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1876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9FEF8-60C7-C76C-BECB-803B623AA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0526F40-787E-2235-A3A4-6554E59C6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1A70A2D-10E6-AFB9-39E1-7A05EDD90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Expliquer posément les deux prototypes</a:t>
            </a:r>
          </a:p>
          <a:p>
            <a:endParaRPr lang="fr-FR" dirty="0"/>
          </a:p>
          <a:p>
            <a:r>
              <a:rPr lang="fr-FR" dirty="0"/>
              <a:t>- un simulateur de température </a:t>
            </a:r>
          </a:p>
          <a:p>
            <a:r>
              <a:rPr lang="fr-FR" dirty="0"/>
              <a:t>- enregistreur</a:t>
            </a:r>
          </a:p>
          <a:p>
            <a:r>
              <a:rPr lang="fr-FR" dirty="0"/>
              <a:t>- lecteur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9D25FB-04A8-9514-3D6A-AE9B758C6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786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- Expliquer la communication en montant sur démonstrateur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0109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-Expliquer rapidement comment est con</a:t>
            </a:r>
          </a:p>
          <a:p>
            <a:r>
              <a:rPr lang="fr-FR" dirty="0" err="1"/>
              <a:t>cue</a:t>
            </a:r>
            <a:r>
              <a:rPr lang="fr-FR" dirty="0"/>
              <a:t> l'app</a:t>
            </a:r>
          </a:p>
          <a:p>
            <a:endParaRPr lang="fr-FR" dirty="0"/>
          </a:p>
          <a:p>
            <a:r>
              <a:rPr lang="fr-FR" dirty="0"/>
              <a:t>-</a:t>
            </a:r>
            <a:r>
              <a:rPr lang="fr-FR" dirty="0" err="1"/>
              <a:t>websocket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40039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- tableau de bord</a:t>
            </a:r>
          </a:p>
          <a:p>
            <a:r>
              <a:rPr lang="fr-FR" dirty="0"/>
              <a:t>-utilisateur -&gt; carte</a:t>
            </a:r>
          </a:p>
          <a:p>
            <a:r>
              <a:rPr lang="fr-FR" dirty="0"/>
              <a:t>- appareil -&gt; mqtt </a:t>
            </a:r>
            <a:r>
              <a:rPr lang="fr-FR" dirty="0" err="1"/>
              <a:t>secu</a:t>
            </a:r>
            <a:endParaRPr lang="fr-FR" dirty="0"/>
          </a:p>
          <a:p>
            <a:r>
              <a:rPr lang="fr-FR" dirty="0"/>
              <a:t>- </a:t>
            </a:r>
            <a:r>
              <a:rPr lang="fr-FR" dirty="0" err="1"/>
              <a:t>jounalisation</a:t>
            </a:r>
            <a:r>
              <a:rPr lang="fr-FR" dirty="0"/>
              <a:t> -&gt; montrer lecteur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6750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- Motivation de l'entreprise a aller plus loin</a:t>
            </a:r>
            <a:br>
              <a:rPr lang="fr-FR" dirty="0"/>
            </a:br>
            <a:r>
              <a:rPr lang="fr-FR" dirty="0"/>
              <a:t>- l'idée de le proposer a d'autres PME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953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- Monsieur </a:t>
            </a:r>
            <a:r>
              <a:rPr lang="fr-FR" dirty="0" err="1"/>
              <a:t>godissart</a:t>
            </a:r>
            <a:endParaRPr lang="fr-FR" dirty="0"/>
          </a:p>
          <a:p>
            <a:r>
              <a:rPr lang="fr-FR" dirty="0"/>
              <a:t>- Gilles</a:t>
            </a:r>
          </a:p>
          <a:p>
            <a:r>
              <a:rPr lang="fr-FR" dirty="0"/>
              <a:t>- Mes lecteurs</a:t>
            </a:r>
          </a:p>
          <a:p>
            <a:r>
              <a:rPr lang="fr-FR" dirty="0"/>
              <a:t>- la présence des gens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3510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43F570-02DB-454F-7C9C-EA18BA01A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497B7E3-560B-3B74-47B0-615E8C6D9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018D53-FB3D-8899-B7A4-DC3E2E7C3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B08-B07F-A840-82D1-A8C28D40B52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741C74-6350-0552-BABA-D8DBF3097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CC8FEC-98CF-D792-4842-854E66E8B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6914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C6A29E-D347-E231-212D-4AF092C6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D470A9-52BA-6483-582F-536F9707C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4033A6-A452-AC71-0404-8145EF91A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B08-B07F-A840-82D1-A8C28D40B52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0FD779-CA1C-FCED-01A6-9FBC67417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2B755F-37BC-D4E0-B25F-178FE7E30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6376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43E44E-E7A0-BFEC-2313-8D06C7D88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66E8D1-28C1-8302-4D6E-DD2851FA3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8299E6-30A1-D046-FF17-8391DAA1F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B08-B07F-A840-82D1-A8C28D40B52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D7ABBE-6BE8-1EAC-3F7B-8A0779964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72593B-E684-3F05-4E76-5B2A4E10C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1405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256105-1314-FE8A-C18E-95888F10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2C4A77-FBFE-46AA-460F-96849614A4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A1728BB-A98C-4CC5-5E82-4B376D5D0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6D1FD29-8759-F451-DE67-0F9A0F0CF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B08-B07F-A840-82D1-A8C28D40B52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B5E2AA4-CD98-F94D-535C-2DF598F33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404FA8D-BF85-D4DF-8164-6D93B93B2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7395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DD0529-9230-9200-6EA6-663A27A3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8140BB-7423-A97A-23E3-1A55218C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5B45C73-04B5-5465-C87E-07AF96CCD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4DAA88F-A2AF-2FCE-6D4A-36D8C64D5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E493C5F-6C7D-9B50-414C-9FA78B74E2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312230B-83F0-868B-5F5D-8E953E6AE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B08-B07F-A840-82D1-A8C28D40B52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AA2790D-7AD7-B137-E672-B78431FEB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799477C-67A7-096B-5C06-FAE4CDD72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4914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FB9960-8E14-97B9-0750-9A450E0AC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FD82584-A5A3-462A-6B12-98A93D73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B08-B07F-A840-82D1-A8C28D40B52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DB1C61-2203-B528-FF6F-6B5065E9B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440750C-7E7E-C1E4-26F9-E7A612BA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8439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C1AEF4F-C445-A524-6BEB-01DA36BD8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B08-B07F-A840-82D1-A8C28D40B52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B222292-9552-C6D9-3BF8-5F4F62455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E6A563-D7BB-850D-A6A1-9FC4205D5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607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61D8B0-2AFE-A70E-3D77-7F6CB9834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2FECF-AF6E-AA71-2D9A-769252706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9A7640A-0228-EA3E-F057-A068609DD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3CBB5F2-F0E9-D3DD-8B3F-FF1EC3CEA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B08-B07F-A840-82D1-A8C28D40B52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49BA6C-9BB9-84E5-19D6-AC23BB0F7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F3DC58B-7B59-0963-7D2B-0CA6C8A22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7199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27AFA9-3A50-9956-8851-307662BCD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366F2B5-091D-5C5B-FDA8-2B5CB46150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D49B5C2-79DE-3AC9-DD2A-58DEB0983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8A7DF4-38A2-583C-B264-5F00F7B73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B08-B07F-A840-82D1-A8C28D40B52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70C01D-5676-EB8F-1A08-AEC770316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FEE59E-ED0B-B641-E9B5-D0E0FE3E3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1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BC152A-0A27-7054-AFCA-E6D732B1D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1010DCB-735C-26EA-898F-1B6FF89CB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0AF185-2F6F-8B99-1532-B6788AED8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B08-B07F-A840-82D1-A8C28D40B52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65E1E3-BE69-31C0-6ED5-279A07A84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67106E-8D93-763A-51B1-2B865FD76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758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1434A38-E1F0-C59E-FF4A-32FEBA7E72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09D6458-AF83-2042-C0B5-C9D319CE8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BB43C9-686F-A2BB-8BC0-58BC03AAC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B08-B07F-A840-82D1-A8C28D40B52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429257-34B5-9DC0-CC0D-EA2A67C5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35E6E8-346B-873B-E7B0-C0332298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0954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7BF18DF-7EB8-B16C-A8D1-BFE8FB477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D0FDB6-0AC8-773E-FB98-5DC3A6641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44FE9C-1F24-2E0A-B9B9-1BC7ACDD25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745B08-B07F-A840-82D1-A8C28D40B524}" type="datetimeFigureOut">
              <a:rPr lang="fr-FR" smtClean="0"/>
              <a:t>11/10/2025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06BC98-BB73-E250-C5FC-8790F1FAE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59A308-8130-D09B-3C0A-046AEECB5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285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svg"/><Relationship Id="rId10" Type="http://schemas.openxmlformats.org/officeDocument/2006/relationships/image" Target="../media/image19.sv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intérieur, meubles, Immeuble de bureaux, ordinateur portable&#10;&#10;Le contenu généré par l’IA peut être incorrect.">
            <a:extLst>
              <a:ext uri="{FF2B5EF4-FFF2-40B4-BE49-F238E27FC236}">
                <a16:creationId xmlns:a16="http://schemas.microsoft.com/office/drawing/2014/main" id="{A95C4CB9-F3D3-C395-0D20-B684FBAC7F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041"/>
          <a:stretch>
            <a:fillRect/>
          </a:stretch>
        </p:blipFill>
        <p:spPr>
          <a:xfrm>
            <a:off x="0" y="-7885"/>
            <a:ext cx="7553325" cy="6865885"/>
          </a:xfrm>
          <a:prstGeom prst="rect">
            <a:avLst/>
          </a:prstGeom>
          <a:effectLst>
            <a:softEdge rad="262727"/>
          </a:effectLst>
        </p:spPr>
      </p:pic>
      <p:sp>
        <p:nvSpPr>
          <p:cNvPr id="6" name="Rectangle 8">
            <a:extLst>
              <a:ext uri="{FF2B5EF4-FFF2-40B4-BE49-F238E27FC236}">
                <a16:creationId xmlns:a16="http://schemas.microsoft.com/office/drawing/2014/main" id="{03CAB9A5-D205-721A-2005-AE1B18F19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0" name="Zone de texte 6">
            <a:extLst>
              <a:ext uri="{FF2B5EF4-FFF2-40B4-BE49-F238E27FC236}">
                <a16:creationId xmlns:a16="http://schemas.microsoft.com/office/drawing/2014/main" id="{F09D1B96-F115-9895-54AD-BEC6AB450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58950" y="330965175"/>
            <a:ext cx="394858875" cy="36343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3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</a:t>
            </a:r>
            <a:endParaRPr kumimoji="0" lang="fr-FR" altLang="fr-FR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Zone de texte 8">
            <a:extLst>
              <a:ext uri="{FF2B5EF4-FFF2-40B4-BE49-F238E27FC236}">
                <a16:creationId xmlns:a16="http://schemas.microsoft.com/office/drawing/2014/main" id="{186C08D9-AD1E-D0D2-48B5-836A48A4C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055800" y="701449575"/>
            <a:ext cx="371903625" cy="779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137160" rIns="91440" bIns="13716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E8E8E8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</a:t>
            </a:r>
            <a:endParaRPr kumimoji="0" lang="fr-FR" altLang="fr-FR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6E7CAA81-6DEA-1CBB-8F1F-68D894122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48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 : avec coins arrondis en haut 12">
            <a:extLst>
              <a:ext uri="{FF2B5EF4-FFF2-40B4-BE49-F238E27FC236}">
                <a16:creationId xmlns:a16="http://schemas.microsoft.com/office/drawing/2014/main" id="{FFA38825-E307-9FFC-F0E2-ACA2D06C015E}"/>
              </a:ext>
            </a:extLst>
          </p:cNvPr>
          <p:cNvSpPr/>
          <p:nvPr/>
        </p:nvSpPr>
        <p:spPr>
          <a:xfrm rot="16200000">
            <a:off x="5426138" y="92134"/>
            <a:ext cx="6865881" cy="6665845"/>
          </a:xfrm>
          <a:prstGeom prst="round2SameRect">
            <a:avLst/>
          </a:prstGeom>
          <a:solidFill>
            <a:srgbClr val="2C3A4B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1D88858F-7DB3-A211-1F67-20EA108E3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904" y="1069291"/>
            <a:ext cx="492891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Système domotisé ouvert et déployable pour les espaces de travail au sein de petites et moyennes entreprises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 : avec coins arrondis en haut 16">
            <a:extLst>
              <a:ext uri="{FF2B5EF4-FFF2-40B4-BE49-F238E27FC236}">
                <a16:creationId xmlns:a16="http://schemas.microsoft.com/office/drawing/2014/main" id="{75177E7E-A0C4-F6D5-08AF-F1982E235CDD}"/>
              </a:ext>
            </a:extLst>
          </p:cNvPr>
          <p:cNvSpPr/>
          <p:nvPr/>
        </p:nvSpPr>
        <p:spPr>
          <a:xfrm rot="16200000">
            <a:off x="6231084" y="361873"/>
            <a:ext cx="5911728" cy="6181893"/>
          </a:xfrm>
          <a:prstGeom prst="round2Same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622CD85E-BE53-1A54-162B-F8143E4F5D27}"/>
              </a:ext>
            </a:extLst>
          </p:cNvPr>
          <p:cNvCxnSpPr>
            <a:cxnSpLocks/>
          </p:cNvCxnSpPr>
          <p:nvPr/>
        </p:nvCxnSpPr>
        <p:spPr>
          <a:xfrm>
            <a:off x="7036904" y="3952713"/>
            <a:ext cx="4706936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4">
            <a:extLst>
              <a:ext uri="{FF2B5EF4-FFF2-40B4-BE49-F238E27FC236}">
                <a16:creationId xmlns:a16="http://schemas.microsoft.com/office/drawing/2014/main" id="{4CA5213D-7C3D-FBD9-3845-D630ADFFE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904" y="4207682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Zone de texte 5">
            <a:extLst>
              <a:ext uri="{FF2B5EF4-FFF2-40B4-BE49-F238E27FC236}">
                <a16:creationId xmlns:a16="http://schemas.microsoft.com/office/drawing/2014/main" id="{6317C80F-3BE3-55E2-0393-7583E05A3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0777" y="4627622"/>
            <a:ext cx="3908425" cy="669925"/>
          </a:xfrm>
          <a:prstGeom prst="rect">
            <a:avLst/>
          </a:prstGeom>
          <a:solidFill>
            <a:srgbClr val="2C3A4B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Bachelier en Automatisation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2020-2025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" name="Image 22" descr="Iram enseignement pour adultes">
            <a:extLst>
              <a:ext uri="{FF2B5EF4-FFF2-40B4-BE49-F238E27FC236}">
                <a16:creationId xmlns:a16="http://schemas.microsoft.com/office/drawing/2014/main" id="{1E1EBB98-BB45-D534-829B-776A55FE0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3812" y="5528908"/>
            <a:ext cx="1161827" cy="76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641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capture d’écran, texte, Police, symbole&#10;&#10;Le contenu généré par l’IA peut être incorrect.">
            <a:extLst>
              <a:ext uri="{FF2B5EF4-FFF2-40B4-BE49-F238E27FC236}">
                <a16:creationId xmlns:a16="http://schemas.microsoft.com/office/drawing/2014/main" id="{E83403DA-1F2C-8EE2-1A97-1E521AD7A4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162"/>
          <a:stretch>
            <a:fillRect/>
          </a:stretch>
        </p:blipFill>
        <p:spPr>
          <a:xfrm>
            <a:off x="952500" y="0"/>
            <a:ext cx="5949745" cy="6858000"/>
          </a:xfrm>
          <a:prstGeom prst="rect">
            <a:avLst/>
          </a:prstGeom>
        </p:spPr>
      </p:pic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6CE36E17-AAEC-53D4-A917-01460869A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4711" y="5924952"/>
            <a:ext cx="1161827" cy="7667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F23216A6-D99D-E65A-8B1A-15CD3E705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5383489-66B0-69F9-8F70-133D0AA714F3}"/>
              </a:ext>
            </a:extLst>
          </p:cNvPr>
          <p:cNvSpPr txBox="1"/>
          <p:nvPr/>
        </p:nvSpPr>
        <p:spPr>
          <a:xfrm>
            <a:off x="6902245" y="1436783"/>
            <a:ext cx="52897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2800" dirty="0">
                <a:solidFill>
                  <a:srgbClr val="2C3A4B"/>
                </a:solidFill>
              </a:rPr>
              <a:t>Transformation numérique</a:t>
            </a:r>
            <a:endParaRPr lang="fr-BE" sz="2800" dirty="0">
              <a:solidFill>
                <a:schemeClr val="bg1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107E9EB-CD1C-E064-F606-22BE88997C99}"/>
              </a:ext>
            </a:extLst>
          </p:cNvPr>
          <p:cNvSpPr txBox="1"/>
          <p:nvPr/>
        </p:nvSpPr>
        <p:spPr>
          <a:xfrm>
            <a:off x="6701607" y="4982001"/>
            <a:ext cx="60960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dirty="0">
                <a:solidFill>
                  <a:srgbClr val="2C3A4B"/>
                </a:solidFill>
              </a:rPr>
              <a:t>  </a:t>
            </a:r>
            <a:r>
              <a:rPr lang="fr-BE" sz="2800" dirty="0">
                <a:solidFill>
                  <a:srgbClr val="2C3A4B"/>
                </a:solidFill>
              </a:rPr>
              <a:t>Ecologie et énergie</a:t>
            </a:r>
            <a:endParaRPr lang="fr-BE" sz="2800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1E46726-CA79-3FB6-D85E-CD1AC0DB702D}"/>
              </a:ext>
            </a:extLst>
          </p:cNvPr>
          <p:cNvSpPr txBox="1"/>
          <p:nvPr/>
        </p:nvSpPr>
        <p:spPr>
          <a:xfrm>
            <a:off x="6902245" y="3718709"/>
            <a:ext cx="43030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2800" dirty="0">
                <a:solidFill>
                  <a:srgbClr val="2C3A4B"/>
                </a:solidFill>
              </a:rPr>
              <a:t>Conseil &amp; accompagnement digital</a:t>
            </a:r>
            <a:endParaRPr lang="fr-BE" sz="2800" dirty="0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2BCBECD-6CC5-F667-4A57-55DDE1DD5B5B}"/>
              </a:ext>
            </a:extLst>
          </p:cNvPr>
          <p:cNvSpPr txBox="1"/>
          <p:nvPr/>
        </p:nvSpPr>
        <p:spPr>
          <a:xfrm>
            <a:off x="6902245" y="2474893"/>
            <a:ext cx="36696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2800" dirty="0">
                <a:solidFill>
                  <a:srgbClr val="2C3A4B"/>
                </a:solidFill>
              </a:rPr>
              <a:t>Développement web et application</a:t>
            </a:r>
            <a:endParaRPr lang="fr-BE" sz="2800" dirty="0">
              <a:solidFill>
                <a:schemeClr val="bg1"/>
              </a:solidFill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C64F5A5F-88CA-F94A-4597-6CDF0394C200}"/>
              </a:ext>
            </a:extLst>
          </p:cNvPr>
          <p:cNvSpPr/>
          <p:nvPr/>
        </p:nvSpPr>
        <p:spPr>
          <a:xfrm>
            <a:off x="11590529" y="120040"/>
            <a:ext cx="450668" cy="450668"/>
          </a:xfrm>
          <a:prstGeom prst="ellipse">
            <a:avLst/>
          </a:prstGeom>
          <a:solidFill>
            <a:schemeClr val="bg1"/>
          </a:solidFill>
          <a:ln w="38100">
            <a:solidFill>
              <a:srgbClr val="2C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rgbClr val="2C3A4B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679211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F4D09-1846-8FA4-7611-802D073F0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 : avec coins arrondis en diagonale 11">
            <a:extLst>
              <a:ext uri="{FF2B5EF4-FFF2-40B4-BE49-F238E27FC236}">
                <a16:creationId xmlns:a16="http://schemas.microsoft.com/office/drawing/2014/main" id="{9E132C7C-EED1-B1F4-5275-D9E8A2F1AAF9}"/>
              </a:ext>
            </a:extLst>
          </p:cNvPr>
          <p:cNvSpPr/>
          <p:nvPr/>
        </p:nvSpPr>
        <p:spPr>
          <a:xfrm rot="16200000">
            <a:off x="5714999" y="380997"/>
            <a:ext cx="6858003" cy="6096000"/>
          </a:xfrm>
          <a:prstGeom prst="round2DiagRect">
            <a:avLst/>
          </a:pr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 : avec coins arrondis en diagonale 12">
            <a:extLst>
              <a:ext uri="{FF2B5EF4-FFF2-40B4-BE49-F238E27FC236}">
                <a16:creationId xmlns:a16="http://schemas.microsoft.com/office/drawing/2014/main" id="{8E0C5183-2AC5-9DA6-B2D1-0867C2746383}"/>
              </a:ext>
            </a:extLst>
          </p:cNvPr>
          <p:cNvSpPr/>
          <p:nvPr/>
        </p:nvSpPr>
        <p:spPr>
          <a:xfrm rot="16200000">
            <a:off x="6314259" y="1010956"/>
            <a:ext cx="5535639" cy="4836083"/>
          </a:xfrm>
          <a:prstGeom prst="round2DiagRect">
            <a:avLst/>
          </a:prstGeom>
          <a:solidFill>
            <a:srgbClr val="2C3A4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DEF2B212-D60C-39A8-963A-917DC4EC5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977" y="5303281"/>
            <a:ext cx="1161827" cy="7667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873B3CC9-EAA0-0726-E729-7634F9D7F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 7" descr="domotique">
            <a:extLst>
              <a:ext uri="{FF2B5EF4-FFF2-40B4-BE49-F238E27FC236}">
                <a16:creationId xmlns:a16="http://schemas.microsoft.com/office/drawing/2014/main" id="{6E8357B3-4E4C-67C7-1215-680D73F5F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625" y="529590"/>
            <a:ext cx="9326598" cy="6217732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6A666E41-1B7D-936C-D37C-B8F082EF9F2C}"/>
              </a:ext>
            </a:extLst>
          </p:cNvPr>
          <p:cNvSpPr txBox="1"/>
          <p:nvPr/>
        </p:nvSpPr>
        <p:spPr>
          <a:xfrm>
            <a:off x="-59190" y="36936"/>
            <a:ext cx="121403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dirty="0">
                <a:solidFill>
                  <a:srgbClr val="2C3A4B"/>
                </a:solidFill>
              </a:rPr>
              <a:t>  Présentation: le projet « </a:t>
            </a:r>
            <a:r>
              <a:rPr lang="fr-BE" sz="3200" b="1" dirty="0" err="1">
                <a:solidFill>
                  <a:srgbClr val="2C3A4B"/>
                </a:solidFill>
              </a:rPr>
              <a:t>Domoty</a:t>
            </a:r>
            <a:r>
              <a:rPr lang="fr-BE" sz="3200" b="1" dirty="0" err="1">
                <a:solidFill>
                  <a:schemeClr val="bg1"/>
                </a:solidFill>
              </a:rPr>
              <a:t>k</a:t>
            </a:r>
            <a:r>
              <a:rPr lang="fr-BE" sz="3200" b="1" dirty="0">
                <a:solidFill>
                  <a:schemeClr val="bg1"/>
                </a:solidFill>
              </a:rPr>
              <a:t> »</a:t>
            </a:r>
            <a:endParaRPr lang="fr-BE" sz="3200" dirty="0">
              <a:solidFill>
                <a:schemeClr val="bg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4C9D0FC-CE5A-3448-C72F-48C7B60FAEEA}"/>
              </a:ext>
            </a:extLst>
          </p:cNvPr>
          <p:cNvSpPr txBox="1"/>
          <p:nvPr/>
        </p:nvSpPr>
        <p:spPr>
          <a:xfrm>
            <a:off x="6905752" y="1160302"/>
            <a:ext cx="4836082" cy="1701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chemeClr val="bg1"/>
                </a:solidFill>
              </a:rPr>
              <a:t>Supervision énergétique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chemeClr val="bg1"/>
                </a:solidFill>
              </a:rPr>
              <a:t>Contrôle d’accès RFID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chemeClr val="bg1"/>
                </a:solidFill>
              </a:rPr>
              <a:t>Interface web ouverte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EA8AD2D0-9084-2B36-4F38-DC5A47AF8849}"/>
              </a:ext>
            </a:extLst>
          </p:cNvPr>
          <p:cNvCxnSpPr>
            <a:cxnSpLocks/>
          </p:cNvCxnSpPr>
          <p:nvPr/>
        </p:nvCxnSpPr>
        <p:spPr>
          <a:xfrm>
            <a:off x="592332" y="661182"/>
            <a:ext cx="5822319" cy="0"/>
          </a:xfrm>
          <a:prstGeom prst="line">
            <a:avLst/>
          </a:prstGeom>
          <a:ln w="38100">
            <a:solidFill>
              <a:srgbClr val="2C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Ellipse 1">
            <a:extLst>
              <a:ext uri="{FF2B5EF4-FFF2-40B4-BE49-F238E27FC236}">
                <a16:creationId xmlns:a16="http://schemas.microsoft.com/office/drawing/2014/main" id="{E47FE816-26D7-58F7-F740-CCE0764CC9D5}"/>
              </a:ext>
            </a:extLst>
          </p:cNvPr>
          <p:cNvSpPr/>
          <p:nvPr/>
        </p:nvSpPr>
        <p:spPr>
          <a:xfrm>
            <a:off x="11590529" y="120040"/>
            <a:ext cx="450668" cy="450668"/>
          </a:xfrm>
          <a:prstGeom prst="ellipse">
            <a:avLst/>
          </a:prstGeom>
          <a:solidFill>
            <a:schemeClr val="bg1"/>
          </a:solidFill>
          <a:ln w="38100">
            <a:solidFill>
              <a:srgbClr val="2C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rgbClr val="2C3A4B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6709365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10406-F83C-2B8C-EBAF-7D5F865A2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diagonale 7">
            <a:extLst>
              <a:ext uri="{FF2B5EF4-FFF2-40B4-BE49-F238E27FC236}">
                <a16:creationId xmlns:a16="http://schemas.microsoft.com/office/drawing/2014/main" id="{77B410E2-7257-8BD5-AFBF-7DAC5F758B2C}"/>
              </a:ext>
            </a:extLst>
          </p:cNvPr>
          <p:cNvSpPr/>
          <p:nvPr/>
        </p:nvSpPr>
        <p:spPr>
          <a:xfrm>
            <a:off x="0" y="0"/>
            <a:ext cx="6372665" cy="6858000"/>
          </a:xfrm>
          <a:prstGeom prst="round2DiagRect">
            <a:avLst/>
          </a:pr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 : avec coins arrondis en diagonale 8">
            <a:extLst>
              <a:ext uri="{FF2B5EF4-FFF2-40B4-BE49-F238E27FC236}">
                <a16:creationId xmlns:a16="http://schemas.microsoft.com/office/drawing/2014/main" id="{6A34AAB3-0049-C5CD-666F-2075474C63A1}"/>
              </a:ext>
            </a:extLst>
          </p:cNvPr>
          <p:cNvSpPr/>
          <p:nvPr/>
        </p:nvSpPr>
        <p:spPr>
          <a:xfrm>
            <a:off x="534571" y="584776"/>
            <a:ext cx="5331657" cy="5688440"/>
          </a:xfrm>
          <a:prstGeom prst="round2DiagRect">
            <a:avLst/>
          </a:prstGeom>
          <a:solidFill>
            <a:srgbClr val="2C3A4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9D7FD1EC-FDD8-36B5-7EFF-99ADA8E9A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2944" y="5923110"/>
            <a:ext cx="1161827" cy="7667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4AB8F8E5-86AB-3068-6D79-70622FCE9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5E238D1-CB83-8B27-6707-86913F3FCCC9}"/>
              </a:ext>
            </a:extLst>
          </p:cNvPr>
          <p:cNvSpPr txBox="1"/>
          <p:nvPr/>
        </p:nvSpPr>
        <p:spPr>
          <a:xfrm>
            <a:off x="6372665" y="0"/>
            <a:ext cx="5798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rgbClr val="2C3A4B"/>
                </a:solidFill>
              </a:rPr>
              <a:t>   Contexte du projet</a:t>
            </a:r>
            <a:endParaRPr lang="fr-BE" sz="3200" b="1" dirty="0">
              <a:solidFill>
                <a:srgbClr val="2C3A4B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D554BE2-9E93-2A20-E467-426655DD4F2C}"/>
              </a:ext>
            </a:extLst>
          </p:cNvPr>
          <p:cNvSpPr txBox="1"/>
          <p:nvPr/>
        </p:nvSpPr>
        <p:spPr>
          <a:xfrm>
            <a:off x="586151" y="2430865"/>
            <a:ext cx="528007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chemeClr val="bg1"/>
                </a:solidFill>
              </a:rPr>
              <a:t>Solutions propriétaires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chemeClr val="bg1"/>
                </a:solidFill>
              </a:rPr>
              <a:t>Écosystème fermé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chemeClr val="bg1"/>
                </a:solidFill>
              </a:rPr>
              <a:t>Développements spécifiques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chemeClr val="bg1"/>
                </a:solidFill>
              </a:rPr>
              <a:t>Mise en place coûteuse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chemeClr val="bg1"/>
                </a:solidFill>
              </a:rPr>
              <a:t>Garantie limitée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chemeClr val="bg1"/>
                </a:solidFill>
              </a:rPr>
              <a:t>Interface complexe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chemeClr val="bg1"/>
                </a:solidFill>
              </a:rPr>
              <a:t>Mises à jour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A54B85-E931-3CE8-53D2-E39C493F5671}"/>
              </a:ext>
            </a:extLst>
          </p:cNvPr>
          <p:cNvSpPr txBox="1"/>
          <p:nvPr/>
        </p:nvSpPr>
        <p:spPr>
          <a:xfrm>
            <a:off x="6372665" y="2430865"/>
            <a:ext cx="581464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rgbClr val="2C3A4B"/>
                </a:solidFill>
              </a:rPr>
              <a:t>Solution flexible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rgbClr val="2C3A4B"/>
                </a:solidFill>
              </a:rPr>
              <a:t>Compatibilité ouverte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rgbClr val="2C3A4B"/>
                </a:solidFill>
              </a:rPr>
              <a:t>DIY possible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rgbClr val="2C3A4B"/>
                </a:solidFill>
              </a:rPr>
              <a:t>Microcontrôleurs bon marché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rgbClr val="2C3A4B"/>
                </a:solidFill>
              </a:rPr>
              <a:t>Modularité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rgbClr val="2C3A4B"/>
                </a:solidFill>
              </a:rPr>
              <a:t>Interface simple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rgbClr val="2C3A4B"/>
                </a:solidFill>
              </a:rPr>
              <a:t>Déploiement rapide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rgbClr val="2C3A4B"/>
                </a:solidFill>
              </a:rPr>
              <a:t>…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254C648F-0DC6-9638-1D0D-E2AE605AEFF6}"/>
              </a:ext>
            </a:extLst>
          </p:cNvPr>
          <p:cNvCxnSpPr>
            <a:cxnSpLocks/>
          </p:cNvCxnSpPr>
          <p:nvPr/>
        </p:nvCxnSpPr>
        <p:spPr>
          <a:xfrm>
            <a:off x="5950634" y="570708"/>
            <a:ext cx="5509849" cy="0"/>
          </a:xfrm>
          <a:prstGeom prst="line">
            <a:avLst/>
          </a:prstGeom>
          <a:ln w="38100">
            <a:solidFill>
              <a:srgbClr val="2C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0E1DCFE6-06D6-A60D-0FEF-6EB497E0FF7F}"/>
              </a:ext>
            </a:extLst>
          </p:cNvPr>
          <p:cNvSpPr txBox="1"/>
          <p:nvPr/>
        </p:nvSpPr>
        <p:spPr>
          <a:xfrm>
            <a:off x="534571" y="1218953"/>
            <a:ext cx="53316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BE" sz="2800" b="1" dirty="0">
                <a:solidFill>
                  <a:schemeClr val="bg1"/>
                </a:solidFill>
              </a:rPr>
              <a:t>Problématiques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6BF29C8-2E55-35DC-6B3E-C4DC62462F3D}"/>
              </a:ext>
            </a:extLst>
          </p:cNvPr>
          <p:cNvSpPr txBox="1"/>
          <p:nvPr/>
        </p:nvSpPr>
        <p:spPr>
          <a:xfrm>
            <a:off x="6400799" y="1218953"/>
            <a:ext cx="57912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BE" sz="2800" b="1" dirty="0">
                <a:solidFill>
                  <a:srgbClr val="2C3A4B"/>
                </a:solidFill>
              </a:rPr>
              <a:t>Solutions</a:t>
            </a:r>
            <a:endParaRPr lang="fr-BE" sz="2800" dirty="0">
              <a:solidFill>
                <a:srgbClr val="2C3A4B"/>
              </a:solidFill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5016DF6C-64B1-CB86-057D-3200B5E7F527}"/>
              </a:ext>
            </a:extLst>
          </p:cNvPr>
          <p:cNvSpPr/>
          <p:nvPr/>
        </p:nvSpPr>
        <p:spPr>
          <a:xfrm>
            <a:off x="11590529" y="120040"/>
            <a:ext cx="450668" cy="450668"/>
          </a:xfrm>
          <a:prstGeom prst="ellipse">
            <a:avLst/>
          </a:prstGeom>
          <a:solidFill>
            <a:schemeClr val="bg1"/>
          </a:solidFill>
          <a:ln w="38100">
            <a:solidFill>
              <a:srgbClr val="2C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rgbClr val="2C3A4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92666277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F76F6-FB16-DB46-9602-B8C97E1DE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25CAC71A-E1E3-8A15-F6F0-654D1BF9B973}"/>
              </a:ext>
            </a:extLst>
          </p:cNvPr>
          <p:cNvCxnSpPr>
            <a:cxnSpLocks/>
          </p:cNvCxnSpPr>
          <p:nvPr/>
        </p:nvCxnSpPr>
        <p:spPr>
          <a:xfrm>
            <a:off x="689317" y="661182"/>
            <a:ext cx="6119449" cy="0"/>
          </a:xfrm>
          <a:prstGeom prst="line">
            <a:avLst/>
          </a:prstGeom>
          <a:ln w="38100">
            <a:solidFill>
              <a:srgbClr val="2C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 : avec coins arrondis en diagonale 11">
            <a:extLst>
              <a:ext uri="{FF2B5EF4-FFF2-40B4-BE49-F238E27FC236}">
                <a16:creationId xmlns:a16="http://schemas.microsoft.com/office/drawing/2014/main" id="{624EE5E9-334A-EC44-D369-B612DE3A235E}"/>
              </a:ext>
            </a:extLst>
          </p:cNvPr>
          <p:cNvSpPr/>
          <p:nvPr/>
        </p:nvSpPr>
        <p:spPr>
          <a:xfrm rot="6770623">
            <a:off x="1782536" y="-306288"/>
            <a:ext cx="9454041" cy="7358676"/>
          </a:xfrm>
          <a:custGeom>
            <a:avLst/>
            <a:gdLst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0 w 8095953"/>
              <a:gd name="connsiteY5" fmla="*/ 6858000 h 6858000"/>
              <a:gd name="connsiteX6" fmla="*/ 0 w 8095953"/>
              <a:gd name="connsiteY6" fmla="*/ 6858000 h 6858000"/>
              <a:gd name="connsiteX7" fmla="*/ 0 w 8095953"/>
              <a:gd name="connsiteY7" fmla="*/ 1143023 h 6858000"/>
              <a:gd name="connsiteX8" fmla="*/ 1143023 w 8095953"/>
              <a:gd name="connsiteY8" fmla="*/ 0 h 6858000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0 w 8095953"/>
              <a:gd name="connsiteY5" fmla="*/ 6858000 h 6858000"/>
              <a:gd name="connsiteX6" fmla="*/ 2355644 w 8095953"/>
              <a:gd name="connsiteY6" fmla="*/ 6839845 h 6858000"/>
              <a:gd name="connsiteX7" fmla="*/ 0 w 8095953"/>
              <a:gd name="connsiteY7" fmla="*/ 1143023 h 6858000"/>
              <a:gd name="connsiteX8" fmla="*/ 1143023 w 8095953"/>
              <a:gd name="connsiteY8" fmla="*/ 0 h 6858000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2386288 w 8095953"/>
              <a:gd name="connsiteY5" fmla="*/ 6826936 h 6858000"/>
              <a:gd name="connsiteX6" fmla="*/ 2355644 w 8095953"/>
              <a:gd name="connsiteY6" fmla="*/ 6839845 h 6858000"/>
              <a:gd name="connsiteX7" fmla="*/ 0 w 8095953"/>
              <a:gd name="connsiteY7" fmla="*/ 1143023 h 6858000"/>
              <a:gd name="connsiteX8" fmla="*/ 1143023 w 8095953"/>
              <a:gd name="connsiteY8" fmla="*/ 0 h 6858000"/>
              <a:gd name="connsiteX0" fmla="*/ 1143023 w 8095953"/>
              <a:gd name="connsiteY0" fmla="*/ 0 h 9204359"/>
              <a:gd name="connsiteX1" fmla="*/ 8095953 w 8095953"/>
              <a:gd name="connsiteY1" fmla="*/ 0 h 9204359"/>
              <a:gd name="connsiteX2" fmla="*/ 8095953 w 8095953"/>
              <a:gd name="connsiteY2" fmla="*/ 0 h 9204359"/>
              <a:gd name="connsiteX3" fmla="*/ 8095953 w 8095953"/>
              <a:gd name="connsiteY3" fmla="*/ 5714977 h 9204359"/>
              <a:gd name="connsiteX4" fmla="*/ 6952930 w 8095953"/>
              <a:gd name="connsiteY4" fmla="*/ 6858000 h 9204359"/>
              <a:gd name="connsiteX5" fmla="*/ 2386288 w 8095953"/>
              <a:gd name="connsiteY5" fmla="*/ 6826936 h 9204359"/>
              <a:gd name="connsiteX6" fmla="*/ 2395575 w 8095953"/>
              <a:gd name="connsiteY6" fmla="*/ 9204359 h 9204359"/>
              <a:gd name="connsiteX7" fmla="*/ 0 w 8095953"/>
              <a:gd name="connsiteY7" fmla="*/ 1143023 h 9204359"/>
              <a:gd name="connsiteX8" fmla="*/ 1143023 w 8095953"/>
              <a:gd name="connsiteY8" fmla="*/ 0 h 9204359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2386288 w 8095953"/>
              <a:gd name="connsiteY5" fmla="*/ 6826936 h 6858000"/>
              <a:gd name="connsiteX6" fmla="*/ 0 w 8095953"/>
              <a:gd name="connsiteY6" fmla="*/ 1143023 h 6858000"/>
              <a:gd name="connsiteX7" fmla="*/ 1143023 w 8095953"/>
              <a:gd name="connsiteY7" fmla="*/ 0 h 6858000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2386288 w 8095953"/>
              <a:gd name="connsiteY5" fmla="*/ 6826936 h 6858000"/>
              <a:gd name="connsiteX6" fmla="*/ 0 w 8095953"/>
              <a:gd name="connsiteY6" fmla="*/ 1143023 h 6858000"/>
              <a:gd name="connsiteX7" fmla="*/ 1143023 w 8095953"/>
              <a:gd name="connsiteY7" fmla="*/ 0 h 6858000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2166275 w 8095953"/>
              <a:gd name="connsiteY5" fmla="*/ 6812482 h 6858000"/>
              <a:gd name="connsiteX6" fmla="*/ 0 w 8095953"/>
              <a:gd name="connsiteY6" fmla="*/ 1143023 h 6858000"/>
              <a:gd name="connsiteX7" fmla="*/ 1143023 w 8095953"/>
              <a:gd name="connsiteY7" fmla="*/ 0 h 6858000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1962545 w 8095953"/>
              <a:gd name="connsiteY5" fmla="*/ 6804471 h 6858000"/>
              <a:gd name="connsiteX6" fmla="*/ 0 w 8095953"/>
              <a:gd name="connsiteY6" fmla="*/ 1143023 h 6858000"/>
              <a:gd name="connsiteX7" fmla="*/ 1143023 w 8095953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95953" h="6858000">
                <a:moveTo>
                  <a:pt x="1143023" y="0"/>
                </a:moveTo>
                <a:lnTo>
                  <a:pt x="8095953" y="0"/>
                </a:lnTo>
                <a:lnTo>
                  <a:pt x="8095953" y="0"/>
                </a:lnTo>
                <a:lnTo>
                  <a:pt x="8095953" y="5714977"/>
                </a:lnTo>
                <a:cubicBezTo>
                  <a:pt x="8095953" y="6346251"/>
                  <a:pt x="7584204" y="6858000"/>
                  <a:pt x="6952930" y="6858000"/>
                </a:cubicBezTo>
                <a:lnTo>
                  <a:pt x="1962545" y="6804471"/>
                </a:lnTo>
                <a:cubicBezTo>
                  <a:pt x="-439848" y="1144121"/>
                  <a:pt x="207211" y="2280846"/>
                  <a:pt x="0" y="1143023"/>
                </a:cubicBezTo>
                <a:cubicBezTo>
                  <a:pt x="0" y="511749"/>
                  <a:pt x="511749" y="0"/>
                  <a:pt x="1143023" y="0"/>
                </a:cubicBezTo>
                <a:close/>
              </a:path>
            </a:pathLst>
          </a:cu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 : avec coins arrondis en diagonale 11">
            <a:extLst>
              <a:ext uri="{FF2B5EF4-FFF2-40B4-BE49-F238E27FC236}">
                <a16:creationId xmlns:a16="http://schemas.microsoft.com/office/drawing/2014/main" id="{434B1668-0FAC-0A83-088E-41565A71FA14}"/>
              </a:ext>
            </a:extLst>
          </p:cNvPr>
          <p:cNvSpPr/>
          <p:nvPr/>
        </p:nvSpPr>
        <p:spPr>
          <a:xfrm rot="6770623">
            <a:off x="2187133" y="15490"/>
            <a:ext cx="9365031" cy="6046794"/>
          </a:xfrm>
          <a:custGeom>
            <a:avLst/>
            <a:gdLst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0 w 8095953"/>
              <a:gd name="connsiteY5" fmla="*/ 6858000 h 6858000"/>
              <a:gd name="connsiteX6" fmla="*/ 0 w 8095953"/>
              <a:gd name="connsiteY6" fmla="*/ 6858000 h 6858000"/>
              <a:gd name="connsiteX7" fmla="*/ 0 w 8095953"/>
              <a:gd name="connsiteY7" fmla="*/ 1143023 h 6858000"/>
              <a:gd name="connsiteX8" fmla="*/ 1143023 w 8095953"/>
              <a:gd name="connsiteY8" fmla="*/ 0 h 6858000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0 w 8095953"/>
              <a:gd name="connsiteY5" fmla="*/ 6858000 h 6858000"/>
              <a:gd name="connsiteX6" fmla="*/ 2355644 w 8095953"/>
              <a:gd name="connsiteY6" fmla="*/ 6839845 h 6858000"/>
              <a:gd name="connsiteX7" fmla="*/ 0 w 8095953"/>
              <a:gd name="connsiteY7" fmla="*/ 1143023 h 6858000"/>
              <a:gd name="connsiteX8" fmla="*/ 1143023 w 8095953"/>
              <a:gd name="connsiteY8" fmla="*/ 0 h 6858000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2386288 w 8095953"/>
              <a:gd name="connsiteY5" fmla="*/ 6826936 h 6858000"/>
              <a:gd name="connsiteX6" fmla="*/ 2355644 w 8095953"/>
              <a:gd name="connsiteY6" fmla="*/ 6839845 h 6858000"/>
              <a:gd name="connsiteX7" fmla="*/ 0 w 8095953"/>
              <a:gd name="connsiteY7" fmla="*/ 1143023 h 6858000"/>
              <a:gd name="connsiteX8" fmla="*/ 1143023 w 8095953"/>
              <a:gd name="connsiteY8" fmla="*/ 0 h 6858000"/>
              <a:gd name="connsiteX0" fmla="*/ 1143023 w 8095953"/>
              <a:gd name="connsiteY0" fmla="*/ 0 h 9204359"/>
              <a:gd name="connsiteX1" fmla="*/ 8095953 w 8095953"/>
              <a:gd name="connsiteY1" fmla="*/ 0 h 9204359"/>
              <a:gd name="connsiteX2" fmla="*/ 8095953 w 8095953"/>
              <a:gd name="connsiteY2" fmla="*/ 0 h 9204359"/>
              <a:gd name="connsiteX3" fmla="*/ 8095953 w 8095953"/>
              <a:gd name="connsiteY3" fmla="*/ 5714977 h 9204359"/>
              <a:gd name="connsiteX4" fmla="*/ 6952930 w 8095953"/>
              <a:gd name="connsiteY4" fmla="*/ 6858000 h 9204359"/>
              <a:gd name="connsiteX5" fmla="*/ 2386288 w 8095953"/>
              <a:gd name="connsiteY5" fmla="*/ 6826936 h 9204359"/>
              <a:gd name="connsiteX6" fmla="*/ 2395575 w 8095953"/>
              <a:gd name="connsiteY6" fmla="*/ 9204359 h 9204359"/>
              <a:gd name="connsiteX7" fmla="*/ 0 w 8095953"/>
              <a:gd name="connsiteY7" fmla="*/ 1143023 h 9204359"/>
              <a:gd name="connsiteX8" fmla="*/ 1143023 w 8095953"/>
              <a:gd name="connsiteY8" fmla="*/ 0 h 9204359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2386288 w 8095953"/>
              <a:gd name="connsiteY5" fmla="*/ 6826936 h 6858000"/>
              <a:gd name="connsiteX6" fmla="*/ 0 w 8095953"/>
              <a:gd name="connsiteY6" fmla="*/ 1143023 h 6858000"/>
              <a:gd name="connsiteX7" fmla="*/ 1143023 w 8095953"/>
              <a:gd name="connsiteY7" fmla="*/ 0 h 6858000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2386288 w 8095953"/>
              <a:gd name="connsiteY5" fmla="*/ 6826936 h 6858000"/>
              <a:gd name="connsiteX6" fmla="*/ 0 w 8095953"/>
              <a:gd name="connsiteY6" fmla="*/ 1143023 h 6858000"/>
              <a:gd name="connsiteX7" fmla="*/ 1143023 w 8095953"/>
              <a:gd name="connsiteY7" fmla="*/ 0 h 6858000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2166275 w 8095953"/>
              <a:gd name="connsiteY5" fmla="*/ 6812482 h 6858000"/>
              <a:gd name="connsiteX6" fmla="*/ 0 w 8095953"/>
              <a:gd name="connsiteY6" fmla="*/ 1143023 h 6858000"/>
              <a:gd name="connsiteX7" fmla="*/ 1143023 w 8095953"/>
              <a:gd name="connsiteY7" fmla="*/ 0 h 6858000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1962545 w 8095953"/>
              <a:gd name="connsiteY5" fmla="*/ 6804471 h 6858000"/>
              <a:gd name="connsiteX6" fmla="*/ 0 w 8095953"/>
              <a:gd name="connsiteY6" fmla="*/ 1143023 h 6858000"/>
              <a:gd name="connsiteX7" fmla="*/ 1143023 w 8095953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95953" h="6858000">
                <a:moveTo>
                  <a:pt x="1143023" y="0"/>
                </a:moveTo>
                <a:lnTo>
                  <a:pt x="8095953" y="0"/>
                </a:lnTo>
                <a:lnTo>
                  <a:pt x="8095953" y="0"/>
                </a:lnTo>
                <a:lnTo>
                  <a:pt x="8095953" y="5714977"/>
                </a:lnTo>
                <a:cubicBezTo>
                  <a:pt x="8095953" y="6346251"/>
                  <a:pt x="7584204" y="6858000"/>
                  <a:pt x="6952930" y="6858000"/>
                </a:cubicBezTo>
                <a:lnTo>
                  <a:pt x="1962545" y="6804471"/>
                </a:lnTo>
                <a:cubicBezTo>
                  <a:pt x="-439848" y="1144121"/>
                  <a:pt x="207211" y="2280846"/>
                  <a:pt x="0" y="1143023"/>
                </a:cubicBezTo>
                <a:cubicBezTo>
                  <a:pt x="0" y="511749"/>
                  <a:pt x="511749" y="0"/>
                  <a:pt x="1143023" y="0"/>
                </a:cubicBezTo>
                <a:close/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6C38258C-AA0B-8191-DBA5-A2C2E189C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6214" y="5932229"/>
            <a:ext cx="1161827" cy="7667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C9282B74-5A15-07AB-8F84-C40851271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DE0A11D-71F5-4AEF-7081-122B284F6F64}"/>
              </a:ext>
            </a:extLst>
          </p:cNvPr>
          <p:cNvSpPr txBox="1"/>
          <p:nvPr/>
        </p:nvSpPr>
        <p:spPr>
          <a:xfrm>
            <a:off x="-4" y="36936"/>
            <a:ext cx="60960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dirty="0">
                <a:solidFill>
                  <a:srgbClr val="2C3A4B"/>
                </a:solidFill>
              </a:rPr>
              <a:t>  Architecture Matéri</a:t>
            </a:r>
            <a:r>
              <a:rPr lang="fr-BE" sz="3200" b="1" dirty="0">
                <a:solidFill>
                  <a:schemeClr val="bg1"/>
                </a:solidFill>
              </a:rPr>
              <a:t>elle</a:t>
            </a:r>
            <a:endParaRPr lang="fr-BE" sz="3200" dirty="0">
              <a:solidFill>
                <a:schemeClr val="bg1"/>
              </a:solidFill>
            </a:endParaRPr>
          </a:p>
        </p:txBody>
      </p:sp>
      <p:pic>
        <p:nvPicPr>
          <p:cNvPr id="5" name="Image 4" descr="Une image contenant Appareils électroniques, machine, fils électriques, Ingénierie électronique&#10;&#10;Le contenu généré par l’IA peut être incorrect.">
            <a:extLst>
              <a:ext uri="{FF2B5EF4-FFF2-40B4-BE49-F238E27FC236}">
                <a16:creationId xmlns:a16="http://schemas.microsoft.com/office/drawing/2014/main" id="{119870FD-0411-2353-20B0-28812D23045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77" t="21401" r="20086" b="19668"/>
          <a:stretch>
            <a:fillRect/>
          </a:stretch>
        </p:blipFill>
        <p:spPr bwMode="auto">
          <a:xfrm>
            <a:off x="264877" y="1030980"/>
            <a:ext cx="11542694" cy="4620554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BA3AE481-FE70-1A67-358F-80748FEA9864}"/>
              </a:ext>
            </a:extLst>
          </p:cNvPr>
          <p:cNvSpPr txBox="1"/>
          <p:nvPr/>
        </p:nvSpPr>
        <p:spPr>
          <a:xfrm>
            <a:off x="4256112" y="40527"/>
            <a:ext cx="73484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BE" sz="3200" b="1" dirty="0">
                <a:solidFill>
                  <a:schemeClr val="bg1"/>
                </a:solidFill>
              </a:rPr>
              <a:t>Présentation du démonstrateur</a:t>
            </a:r>
            <a:endParaRPr lang="fr-FR" sz="3200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CD4BE4C0-3633-D43A-C8E7-6C989869A062}"/>
              </a:ext>
            </a:extLst>
          </p:cNvPr>
          <p:cNvSpPr/>
          <p:nvPr/>
        </p:nvSpPr>
        <p:spPr>
          <a:xfrm>
            <a:off x="11590529" y="120040"/>
            <a:ext cx="450668" cy="450668"/>
          </a:xfrm>
          <a:prstGeom prst="ellipse">
            <a:avLst/>
          </a:prstGeom>
          <a:solidFill>
            <a:schemeClr val="bg1"/>
          </a:solidFill>
          <a:ln w="38100">
            <a:solidFill>
              <a:srgbClr val="2C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rgbClr val="2C3A4B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68637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98DC1-311B-EB47-E01D-3D736039C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rallélogramme 8">
            <a:extLst>
              <a:ext uri="{FF2B5EF4-FFF2-40B4-BE49-F238E27FC236}">
                <a16:creationId xmlns:a16="http://schemas.microsoft.com/office/drawing/2014/main" id="{E16C11D2-49AD-7145-42B6-E7DD9879B935}"/>
              </a:ext>
            </a:extLst>
          </p:cNvPr>
          <p:cNvSpPr/>
          <p:nvPr/>
        </p:nvSpPr>
        <p:spPr>
          <a:xfrm>
            <a:off x="3474720" y="0"/>
            <a:ext cx="9668961" cy="6858000"/>
          </a:xfrm>
          <a:prstGeom prst="parallelogram">
            <a:avLst/>
          </a:pr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878BDA13-D764-FCCF-4DA3-D201AA7F9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6214" y="5932229"/>
            <a:ext cx="1161827" cy="7667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C716CD37-03DC-E74C-C361-5A8221EE6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BE20EDB-5486-68C3-32B6-F821A835C850}"/>
              </a:ext>
            </a:extLst>
          </p:cNvPr>
          <p:cNvSpPr txBox="1"/>
          <p:nvPr/>
        </p:nvSpPr>
        <p:spPr>
          <a:xfrm>
            <a:off x="-4" y="36936"/>
            <a:ext cx="60960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dirty="0">
                <a:solidFill>
                  <a:srgbClr val="2C3A4B"/>
                </a:solidFill>
              </a:rPr>
              <a:t>  Architecture Matérielle</a:t>
            </a:r>
            <a:endParaRPr lang="fr-BE" sz="3200" dirty="0">
              <a:solidFill>
                <a:srgbClr val="2C3A4B"/>
              </a:solidFill>
            </a:endParaRPr>
          </a:p>
        </p:txBody>
      </p:sp>
      <p:pic>
        <p:nvPicPr>
          <p:cNvPr id="6" name="Image 5" descr="Une image contenant Appareils électroniques, Ingénierie électronique, Composant de circuit, Composant électronique&#10;&#10;Le contenu généré par l’IA peut être incorrect.">
            <a:extLst>
              <a:ext uri="{FF2B5EF4-FFF2-40B4-BE49-F238E27FC236}">
                <a16:creationId xmlns:a16="http://schemas.microsoft.com/office/drawing/2014/main" id="{1BE185AC-FD27-C29C-A902-6DA2CFC716F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3" r="21493" b="5490"/>
          <a:stretch>
            <a:fillRect/>
          </a:stretch>
        </p:blipFill>
        <p:spPr bwMode="auto">
          <a:xfrm>
            <a:off x="1217214" y="3952574"/>
            <a:ext cx="3875048" cy="2363011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Image 7" descr="Une image contenant Ingénierie électronique, Composant de circuit, Composant électronique, Appareils électroniques&#10;&#10;Le contenu généré par l’IA peut être incorrect.">
            <a:extLst>
              <a:ext uri="{FF2B5EF4-FFF2-40B4-BE49-F238E27FC236}">
                <a16:creationId xmlns:a16="http://schemas.microsoft.com/office/drawing/2014/main" id="{B6511657-4218-B4F0-0757-12EC251F2E1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0" t="5180" r="20781" b="5798"/>
          <a:stretch>
            <a:fillRect/>
          </a:stretch>
        </p:blipFill>
        <p:spPr bwMode="auto">
          <a:xfrm>
            <a:off x="5539156" y="4064656"/>
            <a:ext cx="4792394" cy="2610459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84FB037E-F236-5128-0010-278E06CAFCE3}"/>
              </a:ext>
            </a:extLst>
          </p:cNvPr>
          <p:cNvSpPr txBox="1"/>
          <p:nvPr/>
        </p:nvSpPr>
        <p:spPr>
          <a:xfrm>
            <a:off x="4962703" y="0"/>
            <a:ext cx="69549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BE" sz="3200" b="1" dirty="0">
                <a:solidFill>
                  <a:schemeClr val="bg1"/>
                </a:solidFill>
              </a:rPr>
              <a:t>Prototype lecteur et enregistreur</a:t>
            </a:r>
            <a:endParaRPr lang="fr-FR" sz="3200" dirty="0"/>
          </a:p>
        </p:txBody>
      </p:sp>
      <p:pic>
        <p:nvPicPr>
          <p:cNvPr id="3" name="Image 2" descr="Une image contenant texte, Appareils électroniques, Ingénierie électronique, circuit&#10;&#10;Le contenu généré par l’IA peut être incorrect.">
            <a:extLst>
              <a:ext uri="{FF2B5EF4-FFF2-40B4-BE49-F238E27FC236}">
                <a16:creationId xmlns:a16="http://schemas.microsoft.com/office/drawing/2014/main" id="{BEBEACC3-7B66-BB46-9AFD-F372D6C4C6D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7"/>
          <a:stretch>
            <a:fillRect/>
          </a:stretch>
        </p:blipFill>
        <p:spPr bwMode="auto">
          <a:xfrm>
            <a:off x="5972554" y="960300"/>
            <a:ext cx="5853868" cy="35319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Image 3" descr="Une image contenant texte, circuit, Ingénierie électronique, ligne&#10;&#10;Le contenu généré par l’IA peut être incorrect.">
            <a:extLst>
              <a:ext uri="{FF2B5EF4-FFF2-40B4-BE49-F238E27FC236}">
                <a16:creationId xmlns:a16="http://schemas.microsoft.com/office/drawing/2014/main" id="{A70D4646-8626-2137-FD03-A8BAEED90E9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38" b="4693"/>
          <a:stretch>
            <a:fillRect/>
          </a:stretch>
        </p:blipFill>
        <p:spPr bwMode="auto">
          <a:xfrm>
            <a:off x="365578" y="847163"/>
            <a:ext cx="2791744" cy="363256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263E9211-9369-39AD-F90A-47D0932F2194}"/>
              </a:ext>
            </a:extLst>
          </p:cNvPr>
          <p:cNvCxnSpPr>
            <a:cxnSpLocks/>
          </p:cNvCxnSpPr>
          <p:nvPr/>
        </p:nvCxnSpPr>
        <p:spPr>
          <a:xfrm>
            <a:off x="689317" y="661182"/>
            <a:ext cx="6119449" cy="0"/>
          </a:xfrm>
          <a:prstGeom prst="line">
            <a:avLst/>
          </a:prstGeom>
          <a:ln w="38100">
            <a:solidFill>
              <a:srgbClr val="2C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184855BA-40D5-AF9E-3657-7B592312C645}"/>
              </a:ext>
            </a:extLst>
          </p:cNvPr>
          <p:cNvCxnSpPr>
            <a:cxnSpLocks/>
          </p:cNvCxnSpPr>
          <p:nvPr/>
        </p:nvCxnSpPr>
        <p:spPr>
          <a:xfrm>
            <a:off x="4981450" y="660117"/>
            <a:ext cx="611944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lipse 4">
            <a:extLst>
              <a:ext uri="{FF2B5EF4-FFF2-40B4-BE49-F238E27FC236}">
                <a16:creationId xmlns:a16="http://schemas.microsoft.com/office/drawing/2014/main" id="{77B86521-9C04-A15E-0EFC-55248C0D5C8E}"/>
              </a:ext>
            </a:extLst>
          </p:cNvPr>
          <p:cNvSpPr/>
          <p:nvPr/>
        </p:nvSpPr>
        <p:spPr>
          <a:xfrm>
            <a:off x="11590529" y="120040"/>
            <a:ext cx="450668" cy="450668"/>
          </a:xfrm>
          <a:prstGeom prst="ellipse">
            <a:avLst/>
          </a:prstGeom>
          <a:solidFill>
            <a:srgbClr val="2C3A4B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63440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CA5F4-018A-3144-B9ED-789C66493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nde diagonale 4">
            <a:extLst>
              <a:ext uri="{FF2B5EF4-FFF2-40B4-BE49-F238E27FC236}">
                <a16:creationId xmlns:a16="http://schemas.microsoft.com/office/drawing/2014/main" id="{0F4C7E92-F406-ACE3-BFC8-65E76AC424D6}"/>
              </a:ext>
            </a:extLst>
          </p:cNvPr>
          <p:cNvSpPr/>
          <p:nvPr/>
        </p:nvSpPr>
        <p:spPr>
          <a:xfrm>
            <a:off x="-49877" y="-116379"/>
            <a:ext cx="14198138" cy="7099069"/>
          </a:xfrm>
          <a:custGeom>
            <a:avLst/>
            <a:gdLst>
              <a:gd name="connsiteX0" fmla="*/ 0 w 15029416"/>
              <a:gd name="connsiteY0" fmla="*/ 6268419 h 12651971"/>
              <a:gd name="connsiteX1" fmla="*/ 7446324 w 15029416"/>
              <a:gd name="connsiteY1" fmla="*/ 0 h 12651971"/>
              <a:gd name="connsiteX2" fmla="*/ 15029416 w 15029416"/>
              <a:gd name="connsiteY2" fmla="*/ 0 h 12651971"/>
              <a:gd name="connsiteX3" fmla="*/ 0 w 15029416"/>
              <a:gd name="connsiteY3" fmla="*/ 12651971 h 12651971"/>
              <a:gd name="connsiteX4" fmla="*/ 0 w 15029416"/>
              <a:gd name="connsiteY4" fmla="*/ 6268419 h 12651971"/>
              <a:gd name="connsiteX0" fmla="*/ 0 w 15029416"/>
              <a:gd name="connsiteY0" fmla="*/ 6268419 h 12651971"/>
              <a:gd name="connsiteX1" fmla="*/ 7113815 w 15029416"/>
              <a:gd name="connsiteY1" fmla="*/ 781396 h 12651971"/>
              <a:gd name="connsiteX2" fmla="*/ 15029416 w 15029416"/>
              <a:gd name="connsiteY2" fmla="*/ 0 h 12651971"/>
              <a:gd name="connsiteX3" fmla="*/ 0 w 15029416"/>
              <a:gd name="connsiteY3" fmla="*/ 12651971 h 12651971"/>
              <a:gd name="connsiteX4" fmla="*/ 0 w 15029416"/>
              <a:gd name="connsiteY4" fmla="*/ 6268419 h 12651971"/>
              <a:gd name="connsiteX0" fmla="*/ 0 w 14164892"/>
              <a:gd name="connsiteY0" fmla="*/ 5536899 h 11920451"/>
              <a:gd name="connsiteX1" fmla="*/ 7113815 w 14164892"/>
              <a:gd name="connsiteY1" fmla="*/ 49876 h 11920451"/>
              <a:gd name="connsiteX2" fmla="*/ 14164892 w 14164892"/>
              <a:gd name="connsiteY2" fmla="*/ 0 h 11920451"/>
              <a:gd name="connsiteX3" fmla="*/ 0 w 14164892"/>
              <a:gd name="connsiteY3" fmla="*/ 11920451 h 11920451"/>
              <a:gd name="connsiteX4" fmla="*/ 0 w 14164892"/>
              <a:gd name="connsiteY4" fmla="*/ 5536899 h 11920451"/>
              <a:gd name="connsiteX0" fmla="*/ 16620 w 14181512"/>
              <a:gd name="connsiteY0" fmla="*/ 5536899 h 11920451"/>
              <a:gd name="connsiteX1" fmla="*/ 7130435 w 14181512"/>
              <a:gd name="connsiteY1" fmla="*/ 49876 h 11920451"/>
              <a:gd name="connsiteX2" fmla="*/ 14181512 w 14181512"/>
              <a:gd name="connsiteY2" fmla="*/ 0 h 11920451"/>
              <a:gd name="connsiteX3" fmla="*/ 16620 w 14181512"/>
              <a:gd name="connsiteY3" fmla="*/ 11920451 h 11920451"/>
              <a:gd name="connsiteX4" fmla="*/ 0 w 14181512"/>
              <a:gd name="connsiteY4" fmla="*/ 8212974 h 11920451"/>
              <a:gd name="connsiteX5" fmla="*/ 16620 w 14181512"/>
              <a:gd name="connsiteY5" fmla="*/ 5536899 h 11920451"/>
              <a:gd name="connsiteX0" fmla="*/ 16620 w 14181512"/>
              <a:gd name="connsiteY0" fmla="*/ 5536899 h 8212974"/>
              <a:gd name="connsiteX1" fmla="*/ 7130435 w 14181512"/>
              <a:gd name="connsiteY1" fmla="*/ 49876 h 8212974"/>
              <a:gd name="connsiteX2" fmla="*/ 14181512 w 14181512"/>
              <a:gd name="connsiteY2" fmla="*/ 0 h 8212974"/>
              <a:gd name="connsiteX3" fmla="*/ 5835529 w 14181512"/>
              <a:gd name="connsiteY3" fmla="*/ 7015942 h 8212974"/>
              <a:gd name="connsiteX4" fmla="*/ 0 w 14181512"/>
              <a:gd name="connsiteY4" fmla="*/ 8212974 h 8212974"/>
              <a:gd name="connsiteX5" fmla="*/ 16620 w 14181512"/>
              <a:gd name="connsiteY5" fmla="*/ 5536899 h 8212974"/>
              <a:gd name="connsiteX0" fmla="*/ 33246 w 14198138"/>
              <a:gd name="connsiteY0" fmla="*/ 5536899 h 7099069"/>
              <a:gd name="connsiteX1" fmla="*/ 7147061 w 14198138"/>
              <a:gd name="connsiteY1" fmla="*/ 49876 h 7099069"/>
              <a:gd name="connsiteX2" fmla="*/ 14198138 w 14198138"/>
              <a:gd name="connsiteY2" fmla="*/ 0 h 7099069"/>
              <a:gd name="connsiteX3" fmla="*/ 5852155 w 14198138"/>
              <a:gd name="connsiteY3" fmla="*/ 7015942 h 7099069"/>
              <a:gd name="connsiteX4" fmla="*/ 0 w 14198138"/>
              <a:gd name="connsiteY4" fmla="*/ 7099069 h 7099069"/>
              <a:gd name="connsiteX5" fmla="*/ 33246 w 14198138"/>
              <a:gd name="connsiteY5" fmla="*/ 5536899 h 7099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98138" h="7099069">
                <a:moveTo>
                  <a:pt x="33246" y="5536899"/>
                </a:moveTo>
                <a:lnTo>
                  <a:pt x="7147061" y="49876"/>
                </a:lnTo>
                <a:lnTo>
                  <a:pt x="14198138" y="0"/>
                </a:lnTo>
                <a:lnTo>
                  <a:pt x="5852155" y="7015942"/>
                </a:lnTo>
                <a:lnTo>
                  <a:pt x="0" y="7099069"/>
                </a:lnTo>
                <a:lnTo>
                  <a:pt x="33246" y="5536899"/>
                </a:lnTo>
                <a:close/>
              </a:path>
            </a:pathLst>
          </a:cu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87939360-89D2-E71A-58FB-A69A7D8AE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3901" y="6035016"/>
            <a:ext cx="1161827" cy="7667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91A10427-77F0-8B67-B755-2330CFC00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8012AA9-8009-7D4E-C454-0335CB14DF45}"/>
              </a:ext>
            </a:extLst>
          </p:cNvPr>
          <p:cNvSpPr txBox="1"/>
          <p:nvPr/>
        </p:nvSpPr>
        <p:spPr>
          <a:xfrm>
            <a:off x="-4" y="36936"/>
            <a:ext cx="60960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dirty="0">
                <a:solidFill>
                  <a:srgbClr val="2C3A4B"/>
                </a:solidFill>
              </a:rPr>
              <a:t>  Architecture Matérielle</a:t>
            </a:r>
            <a:endParaRPr lang="fr-BE" sz="3200" dirty="0">
              <a:solidFill>
                <a:schemeClr val="bg1"/>
              </a:solidFill>
            </a:endParaRPr>
          </a:p>
        </p:txBody>
      </p:sp>
      <p:pic>
        <p:nvPicPr>
          <p:cNvPr id="4" name="Image 3" descr="Une image contenant ligne, diagramme, texte, Police&#10;&#10;Le contenu généré par l’IA peut être incorrect.">
            <a:extLst>
              <a:ext uri="{FF2B5EF4-FFF2-40B4-BE49-F238E27FC236}">
                <a16:creationId xmlns:a16="http://schemas.microsoft.com/office/drawing/2014/main" id="{EFCE7530-879A-FB0E-531B-4AAC9810874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84" t="5417" b="5545"/>
          <a:stretch/>
        </p:blipFill>
        <p:spPr bwMode="auto">
          <a:xfrm>
            <a:off x="216130" y="1679167"/>
            <a:ext cx="11804071" cy="3524596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A15092CC-89B7-A3FC-8DA2-C444AECD2029}"/>
              </a:ext>
            </a:extLst>
          </p:cNvPr>
          <p:cNvSpPr txBox="1"/>
          <p:nvPr/>
        </p:nvSpPr>
        <p:spPr>
          <a:xfrm>
            <a:off x="6808766" y="0"/>
            <a:ext cx="55439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BE" sz="3200" b="1" dirty="0">
                <a:solidFill>
                  <a:schemeClr val="bg1"/>
                </a:solidFill>
              </a:rPr>
              <a:t>Communication</a:t>
            </a:r>
            <a:endParaRPr lang="fr-FR" sz="3200" dirty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BB6E27E5-90ED-6306-8F8A-E91928CDD3AE}"/>
              </a:ext>
            </a:extLst>
          </p:cNvPr>
          <p:cNvCxnSpPr>
            <a:cxnSpLocks/>
          </p:cNvCxnSpPr>
          <p:nvPr/>
        </p:nvCxnSpPr>
        <p:spPr>
          <a:xfrm>
            <a:off x="689317" y="661182"/>
            <a:ext cx="6119449" cy="0"/>
          </a:xfrm>
          <a:prstGeom prst="line">
            <a:avLst/>
          </a:prstGeom>
          <a:ln w="38100">
            <a:solidFill>
              <a:srgbClr val="2C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Image 11" descr="Une image contenant Graphique, graphism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6C144FE-35B5-B471-7894-4B461A82A60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09" y="1745667"/>
            <a:ext cx="805815" cy="690880"/>
          </a:xfrm>
          <a:prstGeom prst="rect">
            <a:avLst/>
          </a:prstGeom>
        </p:spPr>
      </p:pic>
      <p:pic>
        <p:nvPicPr>
          <p:cNvPr id="13" name="Image 12" descr="Une image contenant Graphique, fleur, graphisme, Police&#10;&#10;Le contenu généré par l’IA peut être incorrect.">
            <a:extLst>
              <a:ext uri="{FF2B5EF4-FFF2-40B4-BE49-F238E27FC236}">
                <a16:creationId xmlns:a16="http://schemas.microsoft.com/office/drawing/2014/main" id="{CDAF69EE-A204-EB49-BA28-E32948DA037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620" y="1773818"/>
            <a:ext cx="1507454" cy="479876"/>
          </a:xfrm>
          <a:prstGeom prst="rect">
            <a:avLst/>
          </a:prstGeom>
        </p:spPr>
      </p:pic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78E09B8E-56EB-BA09-A100-855ED1703F65}"/>
              </a:ext>
            </a:extLst>
          </p:cNvPr>
          <p:cNvCxnSpPr>
            <a:cxnSpLocks/>
          </p:cNvCxnSpPr>
          <p:nvPr/>
        </p:nvCxnSpPr>
        <p:spPr>
          <a:xfrm>
            <a:off x="6096000" y="661182"/>
            <a:ext cx="454818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lipse 2">
            <a:extLst>
              <a:ext uri="{FF2B5EF4-FFF2-40B4-BE49-F238E27FC236}">
                <a16:creationId xmlns:a16="http://schemas.microsoft.com/office/drawing/2014/main" id="{98324D50-9188-EED6-1A63-AC109D701FC0}"/>
              </a:ext>
            </a:extLst>
          </p:cNvPr>
          <p:cNvSpPr/>
          <p:nvPr/>
        </p:nvSpPr>
        <p:spPr>
          <a:xfrm>
            <a:off x="11590529" y="120040"/>
            <a:ext cx="450668" cy="450668"/>
          </a:xfrm>
          <a:prstGeom prst="ellipse">
            <a:avLst/>
          </a:prstGeom>
          <a:solidFill>
            <a:srgbClr val="2C3A4B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868669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DB4C7-CE8E-B1E6-8C1C-437A19D54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 : avec coins arrondis en diagonale 66">
            <a:extLst>
              <a:ext uri="{FF2B5EF4-FFF2-40B4-BE49-F238E27FC236}">
                <a16:creationId xmlns:a16="http://schemas.microsoft.com/office/drawing/2014/main" id="{9BE7C744-33E6-AD98-E764-B75B7B5039F8}"/>
              </a:ext>
            </a:extLst>
          </p:cNvPr>
          <p:cNvSpPr/>
          <p:nvPr/>
        </p:nvSpPr>
        <p:spPr>
          <a:xfrm rot="16200000">
            <a:off x="5714998" y="380995"/>
            <a:ext cx="6858003" cy="6096003"/>
          </a:xfrm>
          <a:prstGeom prst="round2DiagRect">
            <a:avLst/>
          </a:pr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9088CBD9-697D-E281-3908-F9C26A213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966" y="5806410"/>
            <a:ext cx="1161827" cy="7667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D5337BE7-2C76-3D33-6997-ED91EF60B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0A75EAD-B247-7308-75C8-A9B2AA9519DF}"/>
              </a:ext>
            </a:extLst>
          </p:cNvPr>
          <p:cNvSpPr txBox="1"/>
          <p:nvPr/>
        </p:nvSpPr>
        <p:spPr>
          <a:xfrm>
            <a:off x="-4" y="36936"/>
            <a:ext cx="60960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dirty="0">
                <a:solidFill>
                  <a:srgbClr val="2C3A4B"/>
                </a:solidFill>
              </a:rPr>
              <a:t>  Architecture Logicielle</a:t>
            </a:r>
            <a:endParaRPr lang="fr-BE" sz="3200" dirty="0">
              <a:solidFill>
                <a:schemeClr val="bg1"/>
              </a:solidFill>
            </a:endParaRP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81829A84-A794-D81F-6232-D516B87B0678}"/>
              </a:ext>
            </a:extLst>
          </p:cNvPr>
          <p:cNvCxnSpPr>
            <a:cxnSpLocks/>
          </p:cNvCxnSpPr>
          <p:nvPr/>
        </p:nvCxnSpPr>
        <p:spPr>
          <a:xfrm>
            <a:off x="689317" y="661182"/>
            <a:ext cx="5420139" cy="0"/>
          </a:xfrm>
          <a:prstGeom prst="line">
            <a:avLst/>
          </a:prstGeom>
          <a:ln w="38100">
            <a:solidFill>
              <a:srgbClr val="2C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Graphique 21">
            <a:extLst>
              <a:ext uri="{FF2B5EF4-FFF2-40B4-BE49-F238E27FC236}">
                <a16:creationId xmlns:a16="http://schemas.microsoft.com/office/drawing/2014/main" id="{43D7D9CD-4DBC-1518-23C9-DC7C074DDD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8050" y="3333750"/>
            <a:ext cx="215900" cy="190500"/>
          </a:xfrm>
          <a:prstGeom prst="rect">
            <a:avLst/>
          </a:prstGeom>
        </p:spPr>
      </p:pic>
      <p:pic>
        <p:nvPicPr>
          <p:cNvPr id="26" name="Image 25" descr="Une image contenant Graphique, capture d’écran, logo, Police&#10;&#10;Le contenu généré par l’IA peut être incorrect.">
            <a:extLst>
              <a:ext uri="{FF2B5EF4-FFF2-40B4-BE49-F238E27FC236}">
                <a16:creationId xmlns:a16="http://schemas.microsoft.com/office/drawing/2014/main" id="{AE6242E7-031C-963C-E18F-C1B7D58EB5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2011" y="3012090"/>
            <a:ext cx="555970" cy="348935"/>
          </a:xfrm>
          <a:prstGeom prst="rect">
            <a:avLst/>
          </a:prstGeom>
        </p:spPr>
      </p:pic>
      <p:pic>
        <p:nvPicPr>
          <p:cNvPr id="28" name="Image 27" descr="Une image contenant Police, capture d’écran, Graphique, logo&#10;&#10;Le contenu généré par l’IA peut être incorrect.">
            <a:extLst>
              <a:ext uri="{FF2B5EF4-FFF2-40B4-BE49-F238E27FC236}">
                <a16:creationId xmlns:a16="http://schemas.microsoft.com/office/drawing/2014/main" id="{ACCA89E9-260F-277A-5315-B587A6E540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394" y="5727909"/>
            <a:ext cx="1274620" cy="512895"/>
          </a:xfrm>
          <a:prstGeom prst="rect">
            <a:avLst/>
          </a:prstGeom>
        </p:spPr>
      </p:pic>
      <p:pic>
        <p:nvPicPr>
          <p:cNvPr id="30" name="Image 29" descr="Une image contenant logo, texte, Police, Graphique&#10;&#10;Le contenu généré par l’IA peut être incorrect.">
            <a:extLst>
              <a:ext uri="{FF2B5EF4-FFF2-40B4-BE49-F238E27FC236}">
                <a16:creationId xmlns:a16="http://schemas.microsoft.com/office/drawing/2014/main" id="{13AA1807-3FD3-55C7-4649-C57C9947D3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9772" y="4090387"/>
            <a:ext cx="1159332" cy="587808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A123FA24-6F93-538E-C761-B68868A002AB}"/>
              </a:ext>
            </a:extLst>
          </p:cNvPr>
          <p:cNvSpPr txBox="1"/>
          <p:nvPr/>
        </p:nvSpPr>
        <p:spPr>
          <a:xfrm>
            <a:off x="-9994" y="1285857"/>
            <a:ext cx="6119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BE" sz="2800" b="1" dirty="0">
                <a:solidFill>
                  <a:srgbClr val="2C3A4B"/>
                </a:solidFill>
              </a:rPr>
              <a:t>Service système</a:t>
            </a:r>
            <a:endParaRPr lang="fr-BE" sz="2800" dirty="0">
              <a:solidFill>
                <a:srgbClr val="2C3A4B"/>
              </a:solidFill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A05CACF1-3533-D87C-D0AC-FE97E0F113EC}"/>
              </a:ext>
            </a:extLst>
          </p:cNvPr>
          <p:cNvSpPr txBox="1"/>
          <p:nvPr/>
        </p:nvSpPr>
        <p:spPr>
          <a:xfrm>
            <a:off x="6596134" y="1086220"/>
            <a:ext cx="4984261" cy="9541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BE" sz="2800" b="1" dirty="0">
                <a:solidFill>
                  <a:schemeClr val="bg1"/>
                </a:solidFill>
              </a:rPr>
              <a:t>Déploiement et conteneurisation</a:t>
            </a:r>
            <a:endParaRPr lang="fr-BE" sz="2800" dirty="0">
              <a:solidFill>
                <a:schemeClr val="bg1"/>
              </a:solidFill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B3D9B083-762E-EB71-FB34-214FB53C83CB}"/>
              </a:ext>
            </a:extLst>
          </p:cNvPr>
          <p:cNvSpPr txBox="1"/>
          <p:nvPr/>
        </p:nvSpPr>
        <p:spPr>
          <a:xfrm>
            <a:off x="589236" y="2385397"/>
            <a:ext cx="4797452" cy="432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BE" sz="2800" b="1" dirty="0">
                <a:solidFill>
                  <a:srgbClr val="2C3A4B"/>
                </a:solidFill>
              </a:rPr>
              <a:t>Frontend</a:t>
            </a:r>
            <a:endParaRPr lang="fr-BE" sz="2800" dirty="0">
              <a:solidFill>
                <a:srgbClr val="2C3A4B"/>
              </a:solidFill>
            </a:endParaRPr>
          </a:p>
        </p:txBody>
      </p:sp>
      <p:grpSp>
        <p:nvGrpSpPr>
          <p:cNvPr id="65" name="Groupe 64">
            <a:extLst>
              <a:ext uri="{FF2B5EF4-FFF2-40B4-BE49-F238E27FC236}">
                <a16:creationId xmlns:a16="http://schemas.microsoft.com/office/drawing/2014/main" id="{8F1B0748-0411-7F7B-BEC2-882C0321F554}"/>
              </a:ext>
            </a:extLst>
          </p:cNvPr>
          <p:cNvGrpSpPr/>
          <p:nvPr/>
        </p:nvGrpSpPr>
        <p:grpSpPr>
          <a:xfrm>
            <a:off x="1187011" y="3540206"/>
            <a:ext cx="3650768" cy="524429"/>
            <a:chOff x="1349059" y="3540206"/>
            <a:chExt cx="3650768" cy="524429"/>
          </a:xfrm>
        </p:grpSpPr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E094D62E-54FE-4389-8E13-04E0EE7514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322985" y="3571189"/>
              <a:ext cx="1676842" cy="493446"/>
            </a:xfrm>
            <a:prstGeom prst="rect">
              <a:avLst/>
            </a:prstGeom>
          </p:spPr>
        </p:pic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B7285447-8991-3C6F-2457-F1D0FA215044}"/>
                </a:ext>
              </a:extLst>
            </p:cNvPr>
            <p:cNvSpPr txBox="1"/>
            <p:nvPr/>
          </p:nvSpPr>
          <p:spPr>
            <a:xfrm>
              <a:off x="1349059" y="3540206"/>
              <a:ext cx="219559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fr-BE" sz="2800" b="1" dirty="0">
                  <a:solidFill>
                    <a:srgbClr val="2C3A4B"/>
                  </a:solidFill>
                </a:rPr>
                <a:t>Backend</a:t>
              </a:r>
              <a:endParaRPr lang="fr-BE" sz="2800" dirty="0">
                <a:solidFill>
                  <a:srgbClr val="2C3A4B"/>
                </a:solidFill>
              </a:endParaRPr>
            </a:p>
          </p:txBody>
        </p:sp>
      </p:grpSp>
      <p:grpSp>
        <p:nvGrpSpPr>
          <p:cNvPr id="66" name="Groupe 65">
            <a:extLst>
              <a:ext uri="{FF2B5EF4-FFF2-40B4-BE49-F238E27FC236}">
                <a16:creationId xmlns:a16="http://schemas.microsoft.com/office/drawing/2014/main" id="{3DF238CA-4A9A-DD2B-93C9-A588010904DA}"/>
              </a:ext>
            </a:extLst>
          </p:cNvPr>
          <p:cNvGrpSpPr/>
          <p:nvPr/>
        </p:nvGrpSpPr>
        <p:grpSpPr>
          <a:xfrm>
            <a:off x="1169250" y="4693540"/>
            <a:ext cx="3693920" cy="604276"/>
            <a:chOff x="1562791" y="4693540"/>
            <a:chExt cx="3693920" cy="604276"/>
          </a:xfrm>
        </p:grpSpPr>
        <p:pic>
          <p:nvPicPr>
            <p:cNvPr id="20" name="Graphique 19">
              <a:extLst>
                <a:ext uri="{FF2B5EF4-FFF2-40B4-BE49-F238E27FC236}">
                  <a16:creationId xmlns:a16="http://schemas.microsoft.com/office/drawing/2014/main" id="{79E8EC24-A470-3EC2-B114-6E54B6DD2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670805" y="4693540"/>
              <a:ext cx="585906" cy="604276"/>
            </a:xfrm>
            <a:prstGeom prst="rect">
              <a:avLst/>
            </a:prstGeom>
          </p:spPr>
        </p:pic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656C4401-4CD9-E1AB-F969-BBA3BE2AE120}"/>
                </a:ext>
              </a:extLst>
            </p:cNvPr>
            <p:cNvSpPr txBox="1"/>
            <p:nvPr/>
          </p:nvSpPr>
          <p:spPr>
            <a:xfrm>
              <a:off x="1562791" y="4728265"/>
              <a:ext cx="317550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fr-BE" sz="2800" b="1" dirty="0">
                  <a:solidFill>
                    <a:srgbClr val="2C3A4B"/>
                  </a:solidFill>
                </a:rPr>
                <a:t>Base de donnée</a:t>
              </a:r>
              <a:endParaRPr lang="fr-BE" sz="2800" dirty="0">
                <a:solidFill>
                  <a:srgbClr val="2C3A4B"/>
                </a:solidFill>
              </a:endParaRPr>
            </a:p>
          </p:txBody>
        </p:sp>
      </p:grp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F3B1BDDC-8FD7-0E4B-1917-B7295BAD169B}"/>
              </a:ext>
            </a:extLst>
          </p:cNvPr>
          <p:cNvCxnSpPr/>
          <p:nvPr/>
        </p:nvCxnSpPr>
        <p:spPr>
          <a:xfrm>
            <a:off x="3006866" y="2861360"/>
            <a:ext cx="0" cy="651921"/>
          </a:xfrm>
          <a:prstGeom prst="straightConnector1">
            <a:avLst/>
          </a:prstGeom>
          <a:ln w="57150">
            <a:solidFill>
              <a:srgbClr val="2C3A4B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AC2FB489-1B35-B767-F0A7-C8B2004B2D51}"/>
              </a:ext>
            </a:extLst>
          </p:cNvPr>
          <p:cNvCxnSpPr/>
          <p:nvPr/>
        </p:nvCxnSpPr>
        <p:spPr>
          <a:xfrm>
            <a:off x="3006866" y="4032794"/>
            <a:ext cx="0" cy="651921"/>
          </a:xfrm>
          <a:prstGeom prst="straightConnector1">
            <a:avLst/>
          </a:prstGeom>
          <a:ln w="57150">
            <a:solidFill>
              <a:srgbClr val="2C3A4B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A29F89A-BCA3-FCA8-4547-C13065D817A7}"/>
              </a:ext>
            </a:extLst>
          </p:cNvPr>
          <p:cNvSpPr/>
          <p:nvPr/>
        </p:nvSpPr>
        <p:spPr>
          <a:xfrm>
            <a:off x="296487" y="2061557"/>
            <a:ext cx="5444836" cy="3510585"/>
          </a:xfrm>
          <a:prstGeom prst="rect">
            <a:avLst/>
          </a:prstGeom>
          <a:noFill/>
          <a:ln w="38100">
            <a:solidFill>
              <a:srgbClr val="2C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 : avec coin rogné 49">
            <a:extLst>
              <a:ext uri="{FF2B5EF4-FFF2-40B4-BE49-F238E27FC236}">
                <a16:creationId xmlns:a16="http://schemas.microsoft.com/office/drawing/2014/main" id="{07FAD61F-CB75-C821-E847-89D9130C185F}"/>
              </a:ext>
            </a:extLst>
          </p:cNvPr>
          <p:cNvSpPr/>
          <p:nvPr/>
        </p:nvSpPr>
        <p:spPr>
          <a:xfrm>
            <a:off x="296487" y="1048677"/>
            <a:ext cx="5444836" cy="1009779"/>
          </a:xfrm>
          <a:prstGeom prst="snip1Rect">
            <a:avLst/>
          </a:prstGeom>
          <a:noFill/>
          <a:ln w="38100">
            <a:solidFill>
              <a:srgbClr val="2C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C9E48C15-FDF1-9FF4-828A-1A025D83AC21}"/>
              </a:ext>
            </a:extLst>
          </p:cNvPr>
          <p:cNvGrpSpPr/>
          <p:nvPr/>
        </p:nvGrpSpPr>
        <p:grpSpPr>
          <a:xfrm>
            <a:off x="6450677" y="1082028"/>
            <a:ext cx="5444836" cy="4467791"/>
            <a:chOff x="1446411" y="1187476"/>
            <a:chExt cx="3240000" cy="4467791"/>
          </a:xfrm>
        </p:grpSpPr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622F0DA1-A9D7-260B-D830-A0C08BB32E96}"/>
                </a:ext>
              </a:extLst>
            </p:cNvPr>
            <p:cNvGrpSpPr/>
            <p:nvPr/>
          </p:nvGrpSpPr>
          <p:grpSpPr>
            <a:xfrm>
              <a:off x="1620614" y="2468522"/>
              <a:ext cx="2854768" cy="2866088"/>
              <a:chOff x="-16628" y="1133400"/>
              <a:chExt cx="6119450" cy="3467966"/>
            </a:xfrm>
          </p:grpSpPr>
          <p:sp>
            <p:nvSpPr>
              <p:cNvPr id="56" name="ZoneTexte 55">
                <a:extLst>
                  <a:ext uri="{FF2B5EF4-FFF2-40B4-BE49-F238E27FC236}">
                    <a16:creationId xmlns:a16="http://schemas.microsoft.com/office/drawing/2014/main" id="{74F52429-723E-E824-5DC5-302B396387D2}"/>
                  </a:ext>
                </a:extLst>
              </p:cNvPr>
              <p:cNvSpPr txBox="1"/>
              <p:nvPr/>
            </p:nvSpPr>
            <p:spPr>
              <a:xfrm>
                <a:off x="-16628" y="1133400"/>
                <a:ext cx="6119450" cy="633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fr-BE" sz="2800" b="1" dirty="0">
                    <a:solidFill>
                      <a:schemeClr val="bg1"/>
                    </a:solidFill>
                  </a:rPr>
                  <a:t>Interface Utilisateur</a:t>
                </a:r>
                <a:endParaRPr lang="fr-BE" sz="2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954AD1C9-C868-C8CA-720B-498F50E0F34B}"/>
                  </a:ext>
                </a:extLst>
              </p:cNvPr>
              <p:cNvSpPr txBox="1"/>
              <p:nvPr/>
            </p:nvSpPr>
            <p:spPr>
              <a:xfrm>
                <a:off x="-9453" y="2550835"/>
                <a:ext cx="6112275" cy="633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fr-BE" sz="2800" b="1" dirty="0">
                    <a:solidFill>
                      <a:schemeClr val="bg1"/>
                    </a:solidFill>
                  </a:rPr>
                  <a:t>Logique applicative</a:t>
                </a:r>
                <a:endParaRPr lang="fr-BE" sz="2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8EF85680-DF64-8D2F-1F40-F84DF1D1E3A3}"/>
                  </a:ext>
                </a:extLst>
              </p:cNvPr>
              <p:cNvSpPr txBox="1"/>
              <p:nvPr/>
            </p:nvSpPr>
            <p:spPr>
              <a:xfrm>
                <a:off x="0" y="3968270"/>
                <a:ext cx="6102822" cy="633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fr-BE" sz="2800" b="1" dirty="0">
                    <a:solidFill>
                      <a:schemeClr val="bg1"/>
                    </a:solidFill>
                  </a:rPr>
                  <a:t>Stockage et persistance</a:t>
                </a:r>
                <a:endParaRPr lang="fr-BE" sz="28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59" name="Connecteur droit avec flèche 58">
                <a:extLst>
                  <a:ext uri="{FF2B5EF4-FFF2-40B4-BE49-F238E27FC236}">
                    <a16:creationId xmlns:a16="http://schemas.microsoft.com/office/drawing/2014/main" id="{310F6BD0-3DDE-C85A-05DD-3B5B17ADECB2}"/>
                  </a:ext>
                </a:extLst>
              </p:cNvPr>
              <p:cNvCxnSpPr/>
              <p:nvPr/>
            </p:nvCxnSpPr>
            <p:spPr>
              <a:xfrm>
                <a:off x="3067210" y="1709315"/>
                <a:ext cx="0" cy="788825"/>
              </a:xfrm>
              <a:prstGeom prst="straightConnector1">
                <a:avLst/>
              </a:prstGeom>
              <a:ln w="57150"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onnecteur droit avec flèche 59">
                <a:extLst>
                  <a:ext uri="{FF2B5EF4-FFF2-40B4-BE49-F238E27FC236}">
                    <a16:creationId xmlns:a16="http://schemas.microsoft.com/office/drawing/2014/main" id="{81D0352C-B267-79E8-41D5-747A02A9B968}"/>
                  </a:ext>
                </a:extLst>
              </p:cNvPr>
              <p:cNvCxnSpPr/>
              <p:nvPr/>
            </p:nvCxnSpPr>
            <p:spPr>
              <a:xfrm>
                <a:off x="3067210" y="3126750"/>
                <a:ext cx="0" cy="788825"/>
              </a:xfrm>
              <a:prstGeom prst="straightConnector1">
                <a:avLst/>
              </a:prstGeom>
              <a:ln w="57150"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2CC327B-0D68-26E9-74E8-516073473F0F}"/>
                </a:ext>
              </a:extLst>
            </p:cNvPr>
            <p:cNvSpPr/>
            <p:nvPr/>
          </p:nvSpPr>
          <p:spPr>
            <a:xfrm>
              <a:off x="1446411" y="2144683"/>
              <a:ext cx="3240000" cy="3510584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bg1"/>
                </a:solidFill>
              </a:endParaRPr>
            </a:p>
          </p:txBody>
        </p:sp>
        <p:sp>
          <p:nvSpPr>
            <p:cNvPr id="55" name="Rectangle : avec coin rogné 54">
              <a:extLst>
                <a:ext uri="{FF2B5EF4-FFF2-40B4-BE49-F238E27FC236}">
                  <a16:creationId xmlns:a16="http://schemas.microsoft.com/office/drawing/2014/main" id="{8FD44975-4534-A7FB-E146-D3EADA3AFC5C}"/>
                </a:ext>
              </a:extLst>
            </p:cNvPr>
            <p:cNvSpPr/>
            <p:nvPr/>
          </p:nvSpPr>
          <p:spPr>
            <a:xfrm>
              <a:off x="1446411" y="1187476"/>
              <a:ext cx="3240000" cy="954106"/>
            </a:xfrm>
            <a:prstGeom prst="snip1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bg1"/>
                </a:solidFill>
              </a:endParaRPr>
            </a:p>
          </p:txBody>
        </p:sp>
      </p:grpSp>
      <p:pic>
        <p:nvPicPr>
          <p:cNvPr id="64" name="Image 63" descr="websocket&#10;">
            <a:extLst>
              <a:ext uri="{FF2B5EF4-FFF2-40B4-BE49-F238E27FC236}">
                <a16:creationId xmlns:a16="http://schemas.microsoft.com/office/drawing/2014/main" id="{B6433B4C-3689-D235-6C08-141BF5C97F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39309" y="2983961"/>
            <a:ext cx="576912" cy="355023"/>
          </a:xfrm>
          <a:prstGeom prst="rect">
            <a:avLst/>
          </a:prstGeom>
        </p:spPr>
      </p:pic>
      <p:sp>
        <p:nvSpPr>
          <p:cNvPr id="70" name="ZoneTexte 69">
            <a:extLst>
              <a:ext uri="{FF2B5EF4-FFF2-40B4-BE49-F238E27FC236}">
                <a16:creationId xmlns:a16="http://schemas.microsoft.com/office/drawing/2014/main" id="{C89476BB-F6D3-48AF-2F2E-B1AF573CED55}"/>
              </a:ext>
            </a:extLst>
          </p:cNvPr>
          <p:cNvSpPr txBox="1"/>
          <p:nvPr/>
        </p:nvSpPr>
        <p:spPr>
          <a:xfrm>
            <a:off x="5911578" y="27304"/>
            <a:ext cx="61232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fr-BE" dirty="0"/>
              <a:t>Représentation en couches</a:t>
            </a:r>
            <a:endParaRPr lang="fr-FR" dirty="0"/>
          </a:p>
        </p:txBody>
      </p: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226BF694-73A2-ACF8-CB17-2391CAA47844}"/>
              </a:ext>
            </a:extLst>
          </p:cNvPr>
          <p:cNvCxnSpPr>
            <a:cxnSpLocks/>
          </p:cNvCxnSpPr>
          <p:nvPr/>
        </p:nvCxnSpPr>
        <p:spPr>
          <a:xfrm>
            <a:off x="6096000" y="661182"/>
            <a:ext cx="497655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5" name="Graphique 74">
            <a:extLst>
              <a:ext uri="{FF2B5EF4-FFF2-40B4-BE49-F238E27FC236}">
                <a16:creationId xmlns:a16="http://schemas.microsoft.com/office/drawing/2014/main" id="{02EF33E7-7E5E-2CD7-93CF-59F201FDEF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2040" y="2422973"/>
            <a:ext cx="452323" cy="399109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D5647F53-D2BC-3744-4D5C-BE30C5452D7E}"/>
              </a:ext>
            </a:extLst>
          </p:cNvPr>
          <p:cNvSpPr/>
          <p:nvPr/>
        </p:nvSpPr>
        <p:spPr>
          <a:xfrm>
            <a:off x="11590529" y="120040"/>
            <a:ext cx="450668" cy="450668"/>
          </a:xfrm>
          <a:prstGeom prst="ellipse">
            <a:avLst/>
          </a:prstGeom>
          <a:solidFill>
            <a:schemeClr val="bg1"/>
          </a:solidFill>
          <a:ln w="38100">
            <a:solidFill>
              <a:srgbClr val="2C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rgbClr val="2C3A4B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6620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DF824-7B92-6742-CF40-BD62B035B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55F26A7-907B-C2F9-185A-ACA519B601D7}"/>
              </a:ext>
            </a:extLst>
          </p:cNvPr>
          <p:cNvSpPr/>
          <p:nvPr/>
        </p:nvSpPr>
        <p:spPr>
          <a:xfrm>
            <a:off x="-14752" y="-9348"/>
            <a:ext cx="12233700" cy="1206498"/>
          </a:xfrm>
          <a:prstGeom prst="rect">
            <a:avLst/>
          </a:pr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61580EF8-2F95-9877-59FB-77AA789C3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1249CBF-D5B4-ECF4-3AFD-16B4AD48C362}"/>
              </a:ext>
            </a:extLst>
          </p:cNvPr>
          <p:cNvSpPr txBox="1"/>
          <p:nvPr/>
        </p:nvSpPr>
        <p:spPr>
          <a:xfrm>
            <a:off x="-4" y="36936"/>
            <a:ext cx="60960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dirty="0">
                <a:solidFill>
                  <a:schemeClr val="bg1"/>
                </a:solidFill>
              </a:rPr>
              <a:t>  Démonstration </a:t>
            </a:r>
            <a:endParaRPr lang="fr-BE" sz="3200" dirty="0">
              <a:solidFill>
                <a:schemeClr val="bg1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9337802-FD53-FDC2-B424-C079188D17A2}"/>
              </a:ext>
            </a:extLst>
          </p:cNvPr>
          <p:cNvCxnSpPr>
            <a:cxnSpLocks/>
          </p:cNvCxnSpPr>
          <p:nvPr/>
        </p:nvCxnSpPr>
        <p:spPr>
          <a:xfrm>
            <a:off x="689317" y="661182"/>
            <a:ext cx="540668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 2" descr="Une image contenant capture d’écran, Logiciel multimédia, logiciel, Logiciel de graphisme&#10;&#10;Le contenu généré par l’IA peut être incorrect.">
            <a:extLst>
              <a:ext uri="{FF2B5EF4-FFF2-40B4-BE49-F238E27FC236}">
                <a16:creationId xmlns:a16="http://schemas.microsoft.com/office/drawing/2014/main" id="{E1170C3B-5B49-FE4E-1FA6-74DC635251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166"/>
          <a:stretch>
            <a:fillRect/>
          </a:stretch>
        </p:blipFill>
        <p:spPr>
          <a:xfrm>
            <a:off x="117987" y="876166"/>
            <a:ext cx="8480323" cy="4090498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</p:spPr>
      </p:pic>
      <p:pic>
        <p:nvPicPr>
          <p:cNvPr id="8" name="Image 7" descr="Une image contenant Logiciel multimédia, logiciel, Logiciel de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8ACEB21-5352-38E9-53F5-1EE647BC795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43"/>
          <a:stretch>
            <a:fillRect/>
          </a:stretch>
        </p:blipFill>
        <p:spPr bwMode="auto">
          <a:xfrm>
            <a:off x="6816008" y="3297859"/>
            <a:ext cx="5241240" cy="3282412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299D7CCA-3462-982E-24CB-AC1B272C8D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0169" y="1326853"/>
            <a:ext cx="1161827" cy="766712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8E9DF878-F949-3FDF-C9B4-3A1E8C8CF69A}"/>
              </a:ext>
            </a:extLst>
          </p:cNvPr>
          <p:cNvSpPr/>
          <p:nvPr/>
        </p:nvSpPr>
        <p:spPr>
          <a:xfrm>
            <a:off x="11590529" y="120040"/>
            <a:ext cx="450668" cy="450668"/>
          </a:xfrm>
          <a:prstGeom prst="ellipse">
            <a:avLst/>
          </a:prstGeom>
          <a:solidFill>
            <a:srgbClr val="2C3A4B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878314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E943A8D-CAB2-C431-4F39-49794B635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603C5F1-3804-2AC0-8BCE-373DD6FFDA2E}"/>
              </a:ext>
            </a:extLst>
          </p:cNvPr>
          <p:cNvSpPr/>
          <p:nvPr/>
        </p:nvSpPr>
        <p:spPr>
          <a:xfrm>
            <a:off x="-20850" y="5717317"/>
            <a:ext cx="12233700" cy="1206498"/>
          </a:xfrm>
          <a:prstGeom prst="rect">
            <a:avLst/>
          </a:pr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4" name="Image 23" descr="Une image contenant capture d’écran&#10;&#10;Le contenu généré par l’IA peut être incorrect.">
            <a:extLst>
              <a:ext uri="{FF2B5EF4-FFF2-40B4-BE49-F238E27FC236}">
                <a16:creationId xmlns:a16="http://schemas.microsoft.com/office/drawing/2014/main" id="{32CA62EC-109F-1825-7F5E-FC0192A4D3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937" r="-30" b="549"/>
          <a:stretch>
            <a:fillRect/>
          </a:stretch>
        </p:blipFill>
        <p:spPr>
          <a:xfrm>
            <a:off x="2957122" y="560880"/>
            <a:ext cx="6299303" cy="5953016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</p:spPr>
      </p:pic>
      <p:pic>
        <p:nvPicPr>
          <p:cNvPr id="16" name="Image 15" descr="Iram enseignement pour adultes">
            <a:extLst>
              <a:ext uri="{FF2B5EF4-FFF2-40B4-BE49-F238E27FC236}">
                <a16:creationId xmlns:a16="http://schemas.microsoft.com/office/drawing/2014/main" id="{5BE5EF2E-C819-4E95-A2E0-1801A3E803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8120" y="6028930"/>
            <a:ext cx="1161827" cy="7667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9489D3E4-00CD-7C07-653A-18F9B0413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10C7E5E-E70F-7C5F-5BCF-E7C2FE3D6D20}"/>
              </a:ext>
            </a:extLst>
          </p:cNvPr>
          <p:cNvSpPr txBox="1"/>
          <p:nvPr/>
        </p:nvSpPr>
        <p:spPr>
          <a:xfrm>
            <a:off x="0" y="0"/>
            <a:ext cx="40756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dirty="0">
                <a:solidFill>
                  <a:srgbClr val="2C3A4B"/>
                </a:solidFill>
              </a:rPr>
              <a:t>  Conclusion</a:t>
            </a:r>
            <a:endParaRPr lang="fr-BE" sz="3200" dirty="0">
              <a:solidFill>
                <a:srgbClr val="2C3A4B"/>
              </a:solidFill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C6C0914F-95D5-3D71-74C1-4414402EEDD8}"/>
              </a:ext>
            </a:extLst>
          </p:cNvPr>
          <p:cNvCxnSpPr>
            <a:cxnSpLocks/>
          </p:cNvCxnSpPr>
          <p:nvPr/>
        </p:nvCxnSpPr>
        <p:spPr>
          <a:xfrm>
            <a:off x="773755" y="537434"/>
            <a:ext cx="10699377" cy="0"/>
          </a:xfrm>
          <a:prstGeom prst="line">
            <a:avLst/>
          </a:prstGeom>
          <a:ln w="38100">
            <a:solidFill>
              <a:srgbClr val="2C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lipse 3">
            <a:extLst>
              <a:ext uri="{FF2B5EF4-FFF2-40B4-BE49-F238E27FC236}">
                <a16:creationId xmlns:a16="http://schemas.microsoft.com/office/drawing/2014/main" id="{6E3E3FCC-AE35-66BF-EFEF-EC4653062163}"/>
              </a:ext>
            </a:extLst>
          </p:cNvPr>
          <p:cNvSpPr/>
          <p:nvPr/>
        </p:nvSpPr>
        <p:spPr>
          <a:xfrm>
            <a:off x="11590529" y="120040"/>
            <a:ext cx="450668" cy="450668"/>
          </a:xfrm>
          <a:prstGeom prst="ellipse">
            <a:avLst/>
          </a:prstGeom>
          <a:solidFill>
            <a:schemeClr val="bg1"/>
          </a:solidFill>
          <a:ln w="38100">
            <a:solidFill>
              <a:srgbClr val="2C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rgbClr val="2C3A4B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10334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mb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C1456-36FB-660A-E9B3-9A4CF2C70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1498CCB-1F2A-9055-0C3C-90787D10F487}"/>
              </a:ext>
            </a:extLst>
          </p:cNvPr>
          <p:cNvSpPr/>
          <p:nvPr/>
        </p:nvSpPr>
        <p:spPr>
          <a:xfrm>
            <a:off x="-14752" y="-9348"/>
            <a:ext cx="12233700" cy="1206498"/>
          </a:xfrm>
          <a:prstGeom prst="rect">
            <a:avLst/>
          </a:pr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5664BEC7-06AD-DECD-6F45-E44B15367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3901" y="6035016"/>
            <a:ext cx="1161827" cy="7667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F80DAD5E-715B-C650-FBFC-222E48000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E711683-BD7B-0099-6892-3EED569C6871}"/>
              </a:ext>
            </a:extLst>
          </p:cNvPr>
          <p:cNvSpPr txBox="1"/>
          <p:nvPr/>
        </p:nvSpPr>
        <p:spPr>
          <a:xfrm>
            <a:off x="-4" y="3686"/>
            <a:ext cx="121357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dirty="0">
                <a:solidFill>
                  <a:schemeClr val="bg1"/>
                </a:solidFill>
              </a:rPr>
              <a:t>  Remerciements</a:t>
            </a:r>
            <a:endParaRPr lang="fr-BE" sz="3200" dirty="0">
              <a:solidFill>
                <a:schemeClr val="bg1"/>
              </a:solidFill>
            </a:endParaRPr>
          </a:p>
        </p:txBody>
      </p:sp>
      <p:pic>
        <p:nvPicPr>
          <p:cNvPr id="11" name="Image 10" descr="Une image contenant habits, personne, Visage humain, sourire&#10;&#10;Le contenu généré par l’IA peut être incorrect.">
            <a:extLst>
              <a:ext uri="{FF2B5EF4-FFF2-40B4-BE49-F238E27FC236}">
                <a16:creationId xmlns:a16="http://schemas.microsoft.com/office/drawing/2014/main" id="{ABC8039F-575A-4399-2D88-08E04B0868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052" b="19414"/>
          <a:stretch>
            <a:fillRect/>
          </a:stretch>
        </p:blipFill>
        <p:spPr>
          <a:xfrm>
            <a:off x="0" y="588461"/>
            <a:ext cx="12192004" cy="532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043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250">
        <p15:prstTrans prst="fallOve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4759</TotalTime>
  <Words>306</Words>
  <Application>Microsoft Macintosh PowerPoint</Application>
  <PresentationFormat>Grand écran</PresentationFormat>
  <Paragraphs>118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pagnoulle</dc:creator>
  <cp:lastModifiedBy>patrick pagnoulle</cp:lastModifiedBy>
  <cp:revision>24</cp:revision>
  <dcterms:created xsi:type="dcterms:W3CDTF">2025-09-13T09:39:25Z</dcterms:created>
  <dcterms:modified xsi:type="dcterms:W3CDTF">2025-10-11T07:32:55Z</dcterms:modified>
</cp:coreProperties>
</file>